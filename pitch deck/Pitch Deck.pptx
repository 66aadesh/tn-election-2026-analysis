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8" r:id="rId3"/>
    <p:sldId id="257" r:id="rId4"/>
    <p:sldId id="259" r:id="rId5"/>
    <p:sldId id="261" r:id="rId6"/>
    <p:sldId id="260" r:id="rId7"/>
    <p:sldId id="263" r:id="rId8"/>
    <p:sldId id="262" r:id="rId9"/>
    <p:sldId id="264" r:id="rId10"/>
    <p:sldId id="265" r:id="rId11"/>
    <p:sldId id="266" r:id="rId12"/>
    <p:sldId id="267" r:id="rId13"/>
    <p:sldId id="268" r:id="rId14"/>
    <p:sldId id="272" r:id="rId15"/>
    <p:sldId id="270" r:id="rId16"/>
    <p:sldId id="269"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9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Vote Share by Party</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Vote Share</c:v>
                </c:pt>
              </c:strCache>
            </c:strRef>
          </c:tx>
          <c:spPr>
            <a:solidFill>
              <a:schemeClr val="accent2"/>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DMK</c:v>
                </c:pt>
                <c:pt idx="1">
                  <c:v>AIADMK</c:v>
                </c:pt>
                <c:pt idx="2">
                  <c:v>NTK</c:v>
                </c:pt>
                <c:pt idx="3">
                  <c:v>INC</c:v>
                </c:pt>
                <c:pt idx="4">
                  <c:v>OTHERS</c:v>
                </c:pt>
                <c:pt idx="5">
                  <c:v>PMK</c:v>
                </c:pt>
                <c:pt idx="6">
                  <c:v>BJP</c:v>
                </c:pt>
                <c:pt idx="7">
                  <c:v>MNM</c:v>
                </c:pt>
                <c:pt idx="8">
                  <c:v>AMMK</c:v>
                </c:pt>
                <c:pt idx="9">
                  <c:v>IND</c:v>
                </c:pt>
                <c:pt idx="10">
                  <c:v>CPI</c:v>
                </c:pt>
              </c:strCache>
            </c:strRef>
          </c:cat>
          <c:val>
            <c:numRef>
              <c:f>Sheet1!$B$2:$B$12</c:f>
              <c:numCache>
                <c:formatCode>0.00%</c:formatCode>
                <c:ptCount val="11"/>
                <c:pt idx="0">
                  <c:v>0.37765025323871693</c:v>
                </c:pt>
                <c:pt idx="1">
                  <c:v>0.3334694137549703</c:v>
                </c:pt>
                <c:pt idx="2">
                  <c:v>6.5909102727212843E-2</c:v>
                </c:pt>
                <c:pt idx="3">
                  <c:v>4.2824534689024245E-2</c:v>
                </c:pt>
                <c:pt idx="4">
                  <c:v>4.2751171727396509E-2</c:v>
                </c:pt>
                <c:pt idx="5">
                  <c:v>3.647044854972735E-2</c:v>
                </c:pt>
                <c:pt idx="6">
                  <c:v>2.6292583450910515E-2</c:v>
                </c:pt>
                <c:pt idx="7">
                  <c:v>2.6223835465900305E-2</c:v>
                </c:pt>
                <c:pt idx="8">
                  <c:v>2.3528039124601767E-2</c:v>
                </c:pt>
                <c:pt idx="9">
                  <c:v>1.3949037658209198E-2</c:v>
                </c:pt>
                <c:pt idx="10">
                  <c:v>1.0931579613329958E-2</c:v>
                </c:pt>
              </c:numCache>
            </c:numRef>
          </c:val>
          <c:extLst>
            <c:ext xmlns:c16="http://schemas.microsoft.com/office/drawing/2014/chart" uri="{C3380CC4-5D6E-409C-BE32-E72D297353CC}">
              <c16:uniqueId val="{00000000-282F-42CE-B263-0BB5CC003DAA}"/>
            </c:ext>
          </c:extLst>
        </c:ser>
        <c:dLbls>
          <c:showLegendKey val="0"/>
          <c:showVal val="0"/>
          <c:showCatName val="0"/>
          <c:showSerName val="0"/>
          <c:showPercent val="0"/>
          <c:showBubbleSize val="0"/>
        </c:dLbls>
        <c:gapWidth val="150"/>
        <c:axId val="398617136"/>
        <c:axId val="397259328"/>
      </c:barChart>
      <c:valAx>
        <c:axId val="397259328"/>
        <c:scaling>
          <c:orientation val="minMax"/>
        </c:scaling>
        <c:delete val="0"/>
        <c:axPos val="t"/>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8617136"/>
        <c:crosses val="autoZero"/>
        <c:crossBetween val="between"/>
        <c:majorUnit val="0.1"/>
      </c:valAx>
      <c:catAx>
        <c:axId val="398617136"/>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259328"/>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800" b="0" i="0" baseline="0" dirty="0">
                <a:effectLst/>
              </a:rPr>
              <a:t>Vote Share by Party</a:t>
            </a:r>
            <a:endParaRPr lang="en-IN" dirty="0">
              <a:effectLst/>
            </a:endParaRP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Vote Share</c:v>
                </c:pt>
              </c:strCache>
            </c:strRef>
          </c:tx>
          <c:spPr>
            <a:solidFill>
              <a:schemeClr val="accent5"/>
            </a:solidFill>
            <a:ln w="19050">
              <a:solidFill>
                <a:schemeClr val="lt1"/>
              </a:solidFill>
            </a:ln>
            <a:effectLst/>
          </c:spPr>
          <c:invertIfNegative val="0"/>
          <c:dPt>
            <c:idx val="0"/>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1-9E80-4554-B645-6F3394E9C22F}"/>
              </c:ext>
            </c:extLst>
          </c:dPt>
          <c:dPt>
            <c:idx val="1"/>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3-9E80-4554-B645-6F3394E9C22F}"/>
              </c:ext>
            </c:extLst>
          </c:dPt>
          <c:dPt>
            <c:idx val="2"/>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5-9E80-4554-B645-6F3394E9C22F}"/>
              </c:ext>
            </c:extLst>
          </c:dPt>
          <c:dPt>
            <c:idx val="3"/>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7-9E80-4554-B645-6F3394E9C22F}"/>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9E80-4554-B645-6F3394E9C22F}"/>
              </c:ext>
            </c:extLst>
          </c:dPt>
          <c:dPt>
            <c:idx val="5"/>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B-9E80-4554-B645-6F3394E9C22F}"/>
              </c:ext>
            </c:extLst>
          </c:dPt>
          <c:dPt>
            <c:idx val="6"/>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D-9E80-4554-B645-6F3394E9C22F}"/>
              </c:ext>
            </c:extLst>
          </c:dPt>
          <c:dPt>
            <c:idx val="7"/>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F-9E80-4554-B645-6F3394E9C22F}"/>
              </c:ext>
            </c:extLst>
          </c:dPt>
          <c:dPt>
            <c:idx val="8"/>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11-9E80-4554-B645-6F3394E9C22F}"/>
              </c:ext>
            </c:extLst>
          </c:dPt>
          <c:dPt>
            <c:idx val="9"/>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13-9E80-4554-B645-6F3394E9C22F}"/>
              </c:ext>
            </c:extLst>
          </c:dPt>
          <c:dPt>
            <c:idx val="10"/>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15-9E80-4554-B645-6F3394E9C22F}"/>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TVK</c:v>
                </c:pt>
                <c:pt idx="1">
                  <c:v>DMK</c:v>
                </c:pt>
                <c:pt idx="2">
                  <c:v>AIADMK</c:v>
                </c:pt>
                <c:pt idx="3">
                  <c:v>NTK</c:v>
                </c:pt>
                <c:pt idx="4">
                  <c:v>OTHERS</c:v>
                </c:pt>
                <c:pt idx="5">
                  <c:v>INC</c:v>
                </c:pt>
                <c:pt idx="6">
                  <c:v>BJP</c:v>
                </c:pt>
                <c:pt idx="7">
                  <c:v>PMK</c:v>
                </c:pt>
                <c:pt idx="8">
                  <c:v>DMDK</c:v>
                </c:pt>
                <c:pt idx="9">
                  <c:v>VCK</c:v>
                </c:pt>
                <c:pt idx="10">
                  <c:v>IND</c:v>
                </c:pt>
              </c:strCache>
            </c:strRef>
          </c:cat>
          <c:val>
            <c:numRef>
              <c:f>Sheet1!$B$2:$B$12</c:f>
              <c:numCache>
                <c:formatCode>0.00%</c:formatCode>
                <c:ptCount val="11"/>
                <c:pt idx="0">
                  <c:v>0.34974490615292214</c:v>
                </c:pt>
                <c:pt idx="1">
                  <c:v>0.24219823112355679</c:v>
                </c:pt>
                <c:pt idx="2">
                  <c:v>0.21106605363851499</c:v>
                </c:pt>
                <c:pt idx="3">
                  <c:v>4.0048554382927003E-2</c:v>
                </c:pt>
                <c:pt idx="4">
                  <c:v>3.8110870104661076E-2</c:v>
                </c:pt>
                <c:pt idx="5">
                  <c:v>3.3729731801740208E-2</c:v>
                </c:pt>
                <c:pt idx="6">
                  <c:v>2.9785089174529607E-2</c:v>
                </c:pt>
                <c:pt idx="7">
                  <c:v>2.1739409381292808E-2</c:v>
                </c:pt>
                <c:pt idx="8">
                  <c:v>1.1968659046058689E-2</c:v>
                </c:pt>
                <c:pt idx="9">
                  <c:v>1.0964794113279511E-2</c:v>
                </c:pt>
                <c:pt idx="10">
                  <c:v>1.0643701080517138E-2</c:v>
                </c:pt>
              </c:numCache>
            </c:numRef>
          </c:val>
          <c:extLst>
            <c:ext xmlns:c16="http://schemas.microsoft.com/office/drawing/2014/chart" uri="{C3380CC4-5D6E-409C-BE32-E72D297353CC}">
              <c16:uniqueId val="{00000016-9E80-4554-B645-6F3394E9C22F}"/>
            </c:ext>
          </c:extLst>
        </c:ser>
        <c:dLbls>
          <c:showLegendKey val="0"/>
          <c:showVal val="0"/>
          <c:showCatName val="0"/>
          <c:showSerName val="0"/>
          <c:showPercent val="0"/>
          <c:showBubbleSize val="0"/>
        </c:dLbls>
        <c:gapWidth val="100"/>
        <c:axId val="397558432"/>
        <c:axId val="443754160"/>
      </c:barChart>
      <c:valAx>
        <c:axId val="443754160"/>
        <c:scaling>
          <c:orientation val="minMax"/>
        </c:scaling>
        <c:delete val="0"/>
        <c:axPos val="t"/>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558432"/>
        <c:crosses val="autoZero"/>
        <c:crossBetween val="between"/>
        <c:majorUnit val="0.1"/>
      </c:valAx>
      <c:catAx>
        <c:axId val="397558432"/>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3754160"/>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Vote Share by Region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Vote Share</c:v>
                </c:pt>
              </c:strCache>
            </c:strRef>
          </c:tx>
          <c:spPr>
            <a:solidFill>
              <a:schemeClr val="accent6"/>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Central</c:v>
                </c:pt>
                <c:pt idx="2">
                  <c:v>North</c:v>
                </c:pt>
                <c:pt idx="3">
                  <c:v>Chennai Metro</c:v>
                </c:pt>
                <c:pt idx="4">
                  <c:v>Kongu</c:v>
                </c:pt>
                <c:pt idx="5">
                  <c:v>Delta</c:v>
                </c:pt>
              </c:strCache>
            </c:strRef>
          </c:cat>
          <c:val>
            <c:numRef>
              <c:f>Sheet1!$B$2:$B$7</c:f>
              <c:numCache>
                <c:formatCode>0.00%</c:formatCode>
                <c:ptCount val="6"/>
                <c:pt idx="0">
                  <c:v>0.24110000000000001</c:v>
                </c:pt>
                <c:pt idx="1">
                  <c:v>0.18160000000000001</c:v>
                </c:pt>
                <c:pt idx="2">
                  <c:v>0.16220000000000001</c:v>
                </c:pt>
                <c:pt idx="3">
                  <c:v>0.14180000000000001</c:v>
                </c:pt>
                <c:pt idx="4">
                  <c:v>0.1401</c:v>
                </c:pt>
                <c:pt idx="5">
                  <c:v>0.1331</c:v>
                </c:pt>
              </c:numCache>
            </c:numRef>
          </c:val>
          <c:extLst>
            <c:ext xmlns:c16="http://schemas.microsoft.com/office/drawing/2014/chart" uri="{C3380CC4-5D6E-409C-BE32-E72D297353CC}">
              <c16:uniqueId val="{00000000-282F-42CE-B263-0BB5CC003DAA}"/>
            </c:ext>
          </c:extLst>
        </c:ser>
        <c:dLbls>
          <c:showLegendKey val="0"/>
          <c:showVal val="0"/>
          <c:showCatName val="0"/>
          <c:showSerName val="0"/>
          <c:showPercent val="0"/>
          <c:showBubbleSize val="0"/>
        </c:dLbls>
        <c:gapWidth val="150"/>
        <c:axId val="398617136"/>
        <c:axId val="397259328"/>
      </c:barChart>
      <c:valAx>
        <c:axId val="397259328"/>
        <c:scaling>
          <c:orientation val="minMax"/>
        </c:scaling>
        <c:delete val="0"/>
        <c:axPos val="t"/>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8617136"/>
        <c:crosses val="autoZero"/>
        <c:crossBetween val="between"/>
        <c:majorUnit val="0.1"/>
      </c:valAx>
      <c:catAx>
        <c:axId val="398617136"/>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259328"/>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Vote Share by Region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Vote Share</c:v>
                </c:pt>
              </c:strCache>
            </c:strRef>
          </c:tx>
          <c:spPr>
            <a:solidFill>
              <a:schemeClr val="accent4"/>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Central</c:v>
                </c:pt>
                <c:pt idx="2">
                  <c:v>North</c:v>
                </c:pt>
                <c:pt idx="3">
                  <c:v>Chennai Metro</c:v>
                </c:pt>
                <c:pt idx="4">
                  <c:v>Kongu</c:v>
                </c:pt>
                <c:pt idx="5">
                  <c:v>Delta</c:v>
                </c:pt>
              </c:strCache>
            </c:strRef>
          </c:cat>
          <c:val>
            <c:numRef>
              <c:f>Sheet1!$B$2:$B$7</c:f>
              <c:numCache>
                <c:formatCode>0.00%</c:formatCode>
                <c:ptCount val="6"/>
                <c:pt idx="0">
                  <c:v>0.23960000000000001</c:v>
                </c:pt>
                <c:pt idx="1">
                  <c:v>0.18060000000000001</c:v>
                </c:pt>
                <c:pt idx="2">
                  <c:v>0.1641</c:v>
                </c:pt>
                <c:pt idx="3">
                  <c:v>0.14330000000000001</c:v>
                </c:pt>
                <c:pt idx="4">
                  <c:v>0.14099999999999999</c:v>
                </c:pt>
                <c:pt idx="5">
                  <c:v>0.1313</c:v>
                </c:pt>
              </c:numCache>
            </c:numRef>
          </c:val>
          <c:extLst>
            <c:ext xmlns:c16="http://schemas.microsoft.com/office/drawing/2014/chart" uri="{C3380CC4-5D6E-409C-BE32-E72D297353CC}">
              <c16:uniqueId val="{00000000-EC63-476C-B7EE-09CDA1343404}"/>
            </c:ext>
          </c:extLst>
        </c:ser>
        <c:dLbls>
          <c:showLegendKey val="0"/>
          <c:showVal val="0"/>
          <c:showCatName val="0"/>
          <c:showSerName val="0"/>
          <c:showPercent val="0"/>
          <c:showBubbleSize val="0"/>
        </c:dLbls>
        <c:gapWidth val="150"/>
        <c:axId val="398617136"/>
        <c:axId val="397259328"/>
      </c:barChart>
      <c:valAx>
        <c:axId val="397259328"/>
        <c:scaling>
          <c:orientation val="minMax"/>
        </c:scaling>
        <c:delete val="0"/>
        <c:axPos val="t"/>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8617136"/>
        <c:crosses val="autoZero"/>
        <c:crossBetween val="between"/>
        <c:majorUnit val="0.1"/>
      </c:valAx>
      <c:catAx>
        <c:axId val="398617136"/>
        <c:scaling>
          <c:orientation val="maxMin"/>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259328"/>
        <c:crosses val="autoZero"/>
        <c:auto val="1"/>
        <c:lblAlgn val="ctr"/>
        <c:lblOffset val="100"/>
        <c:noMultiLvlLbl val="0"/>
      </c:cat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Regional</a:t>
            </a:r>
            <a:r>
              <a:rPr lang="en-IN" baseline="0" dirty="0"/>
              <a:t> Vote Share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DMK 2021</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Chennai Metro</c:v>
                </c:pt>
                <c:pt idx="2">
                  <c:v>North</c:v>
                </c:pt>
                <c:pt idx="3">
                  <c:v>Central</c:v>
                </c:pt>
                <c:pt idx="4">
                  <c:v>Kongu</c:v>
                </c:pt>
                <c:pt idx="5">
                  <c:v>Delta</c:v>
                </c:pt>
              </c:strCache>
            </c:strRef>
          </c:cat>
          <c:val>
            <c:numRef>
              <c:f>Sheet1!$B$2:$B$7</c:f>
              <c:numCache>
                <c:formatCode>0.00%</c:formatCode>
                <c:ptCount val="6"/>
                <c:pt idx="0">
                  <c:v>0.08</c:v>
                </c:pt>
                <c:pt idx="1">
                  <c:v>6.4299999999999996E-2</c:v>
                </c:pt>
                <c:pt idx="2">
                  <c:v>5.9799999999999999E-2</c:v>
                </c:pt>
                <c:pt idx="3">
                  <c:v>7.0699999999999999E-2</c:v>
                </c:pt>
                <c:pt idx="4">
                  <c:v>4.82E-2</c:v>
                </c:pt>
                <c:pt idx="5">
                  <c:v>5.4100000000000002E-2</c:v>
                </c:pt>
              </c:numCache>
            </c:numRef>
          </c:val>
          <c:extLst>
            <c:ext xmlns:c16="http://schemas.microsoft.com/office/drawing/2014/chart" uri="{C3380CC4-5D6E-409C-BE32-E72D297353CC}">
              <c16:uniqueId val="{00000000-2718-494E-A009-6D0366051064}"/>
            </c:ext>
          </c:extLst>
        </c:ser>
        <c:ser>
          <c:idx val="1"/>
          <c:order val="1"/>
          <c:tx>
            <c:strRef>
              <c:f>Sheet1!$C$1</c:f>
              <c:strCache>
                <c:ptCount val="1"/>
                <c:pt idx="0">
                  <c:v>DMK 2026</c:v>
                </c:pt>
              </c:strCache>
            </c:strRef>
          </c:tx>
          <c:spPr>
            <a:solidFill>
              <a:schemeClr val="dk1">
                <a:tint val="5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Chennai Metro</c:v>
                </c:pt>
                <c:pt idx="2">
                  <c:v>North</c:v>
                </c:pt>
                <c:pt idx="3">
                  <c:v>Central</c:v>
                </c:pt>
                <c:pt idx="4">
                  <c:v>Kongu</c:v>
                </c:pt>
                <c:pt idx="5">
                  <c:v>Delta</c:v>
                </c:pt>
              </c:strCache>
            </c:strRef>
          </c:cat>
          <c:val>
            <c:numRef>
              <c:f>Sheet1!$C$2:$C$7</c:f>
              <c:numCache>
                <c:formatCode>0.00%</c:formatCode>
                <c:ptCount val="6"/>
                <c:pt idx="0">
                  <c:v>5.8999999999999997E-2</c:v>
                </c:pt>
                <c:pt idx="1">
                  <c:v>3.4799999999999998E-2</c:v>
                </c:pt>
                <c:pt idx="2">
                  <c:v>3.3599999999999998E-2</c:v>
                </c:pt>
                <c:pt idx="3">
                  <c:v>4.19E-2</c:v>
                </c:pt>
                <c:pt idx="4">
                  <c:v>3.61E-2</c:v>
                </c:pt>
                <c:pt idx="5">
                  <c:v>3.6299999999999999E-2</c:v>
                </c:pt>
              </c:numCache>
            </c:numRef>
          </c:val>
          <c:extLst>
            <c:ext xmlns:c16="http://schemas.microsoft.com/office/drawing/2014/chart" uri="{C3380CC4-5D6E-409C-BE32-E72D297353CC}">
              <c16:uniqueId val="{00000001-2718-494E-A009-6D0366051064}"/>
            </c:ext>
          </c:extLst>
        </c:ser>
        <c:ser>
          <c:idx val="2"/>
          <c:order val="2"/>
          <c:tx>
            <c:strRef>
              <c:f>Sheet1!$D$1</c:f>
              <c:strCache>
                <c:ptCount val="1"/>
                <c:pt idx="0">
                  <c:v>AIADMK 2021</c:v>
                </c:pt>
              </c:strCache>
            </c:strRef>
          </c:tx>
          <c:spPr>
            <a:solidFill>
              <a:schemeClr val="dk1">
                <a:tint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Chennai Metro</c:v>
                </c:pt>
                <c:pt idx="2">
                  <c:v>North</c:v>
                </c:pt>
                <c:pt idx="3">
                  <c:v>Central</c:v>
                </c:pt>
                <c:pt idx="4">
                  <c:v>Kongu</c:v>
                </c:pt>
                <c:pt idx="5">
                  <c:v>Delta</c:v>
                </c:pt>
              </c:strCache>
            </c:strRef>
          </c:cat>
          <c:val>
            <c:numRef>
              <c:f>Sheet1!$D$2:$D$7</c:f>
              <c:numCache>
                <c:formatCode>0.00%</c:formatCode>
                <c:ptCount val="6"/>
                <c:pt idx="0">
                  <c:v>7.6600000000000001E-2</c:v>
                </c:pt>
                <c:pt idx="1">
                  <c:v>4.02E-2</c:v>
                </c:pt>
                <c:pt idx="2">
                  <c:v>5.1400000000000001E-2</c:v>
                </c:pt>
                <c:pt idx="3">
                  <c:v>6.4600000000000005E-2</c:v>
                </c:pt>
                <c:pt idx="4">
                  <c:v>5.5399999999999998E-2</c:v>
                </c:pt>
                <c:pt idx="5">
                  <c:v>4.4699999999999997E-2</c:v>
                </c:pt>
              </c:numCache>
            </c:numRef>
          </c:val>
          <c:extLst>
            <c:ext xmlns:c16="http://schemas.microsoft.com/office/drawing/2014/chart" uri="{C3380CC4-5D6E-409C-BE32-E72D297353CC}">
              <c16:uniqueId val="{00000002-2718-494E-A009-6D0366051064}"/>
            </c:ext>
          </c:extLst>
        </c:ser>
        <c:ser>
          <c:idx val="3"/>
          <c:order val="3"/>
          <c:tx>
            <c:strRef>
              <c:f>Sheet1!$E$1</c:f>
              <c:strCache>
                <c:ptCount val="1"/>
                <c:pt idx="0">
                  <c:v>AIADMK 2026</c:v>
                </c:pt>
              </c:strCache>
            </c:strRef>
          </c:tx>
          <c:spPr>
            <a:solidFill>
              <a:schemeClr val="dk1">
                <a:tint val="9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Chennai Metro</c:v>
                </c:pt>
                <c:pt idx="2">
                  <c:v>North</c:v>
                </c:pt>
                <c:pt idx="3">
                  <c:v>Central</c:v>
                </c:pt>
                <c:pt idx="4">
                  <c:v>Kongu</c:v>
                </c:pt>
                <c:pt idx="5">
                  <c:v>Delta</c:v>
                </c:pt>
              </c:strCache>
            </c:strRef>
          </c:cat>
          <c:val>
            <c:numRef>
              <c:f>Sheet1!$E$2:$E$7</c:f>
              <c:numCache>
                <c:formatCode>0.00%</c:formatCode>
                <c:ptCount val="6"/>
                <c:pt idx="0">
                  <c:v>4.0300000000000002E-2</c:v>
                </c:pt>
                <c:pt idx="1">
                  <c:v>2.2800000000000001E-2</c:v>
                </c:pt>
                <c:pt idx="2">
                  <c:v>4.0899999999999999E-2</c:v>
                </c:pt>
                <c:pt idx="3">
                  <c:v>4.8800000000000003E-2</c:v>
                </c:pt>
                <c:pt idx="4">
                  <c:v>3.3599999999999998E-2</c:v>
                </c:pt>
                <c:pt idx="5">
                  <c:v>2.5700000000000001E-2</c:v>
                </c:pt>
              </c:numCache>
            </c:numRef>
          </c:val>
          <c:extLst>
            <c:ext xmlns:c16="http://schemas.microsoft.com/office/drawing/2014/chart" uri="{C3380CC4-5D6E-409C-BE32-E72D297353CC}">
              <c16:uniqueId val="{00000003-2718-494E-A009-6D0366051064}"/>
            </c:ext>
          </c:extLst>
        </c:ser>
        <c:ser>
          <c:idx val="4"/>
          <c:order val="4"/>
          <c:tx>
            <c:strRef>
              <c:f>Sheet1!$F$1</c:f>
              <c:strCache>
                <c:ptCount val="1"/>
                <c:pt idx="0">
                  <c:v>TVK 2026</c:v>
                </c:pt>
              </c:strCache>
            </c:strRef>
          </c:tx>
          <c:spPr>
            <a:solidFill>
              <a:schemeClr val="dk1">
                <a:tint val="3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South</c:v>
                </c:pt>
                <c:pt idx="1">
                  <c:v>Chennai Metro</c:v>
                </c:pt>
                <c:pt idx="2">
                  <c:v>North</c:v>
                </c:pt>
                <c:pt idx="3">
                  <c:v>Central</c:v>
                </c:pt>
                <c:pt idx="4">
                  <c:v>Kongu</c:v>
                </c:pt>
                <c:pt idx="5">
                  <c:v>Delta</c:v>
                </c:pt>
              </c:strCache>
            </c:strRef>
          </c:cat>
          <c:val>
            <c:numRef>
              <c:f>Sheet1!$F$2:$F$7</c:f>
              <c:numCache>
                <c:formatCode>0.00%</c:formatCode>
                <c:ptCount val="6"/>
                <c:pt idx="0">
                  <c:v>8.0299999999999996E-2</c:v>
                </c:pt>
                <c:pt idx="1">
                  <c:v>6.6799999999999998E-2</c:v>
                </c:pt>
                <c:pt idx="2">
                  <c:v>5.4300000000000001E-2</c:v>
                </c:pt>
                <c:pt idx="3">
                  <c:v>5.6000000000000001E-2</c:v>
                </c:pt>
                <c:pt idx="4">
                  <c:v>4.8599999999999997E-2</c:v>
                </c:pt>
                <c:pt idx="5">
                  <c:v>4.3099999999999999E-2</c:v>
                </c:pt>
              </c:numCache>
            </c:numRef>
          </c:val>
          <c:extLst>
            <c:ext xmlns:c16="http://schemas.microsoft.com/office/drawing/2014/chart" uri="{C3380CC4-5D6E-409C-BE32-E72D297353CC}">
              <c16:uniqueId val="{00000004-2718-494E-A009-6D0366051064}"/>
            </c:ext>
          </c:extLst>
        </c:ser>
        <c:dLbls>
          <c:dLblPos val="ctr"/>
          <c:showLegendKey val="0"/>
          <c:showVal val="1"/>
          <c:showCatName val="0"/>
          <c:showSerName val="0"/>
          <c:showPercent val="0"/>
          <c:showBubbleSize val="0"/>
        </c:dLbls>
        <c:gapWidth val="150"/>
        <c:overlap val="100"/>
        <c:axId val="368268320"/>
        <c:axId val="564125120"/>
      </c:barChart>
      <c:catAx>
        <c:axId val="36826832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4125120"/>
        <c:crosses val="autoZero"/>
        <c:auto val="1"/>
        <c:lblAlgn val="ctr"/>
        <c:lblOffset val="100"/>
        <c:noMultiLvlLbl val="0"/>
      </c:catAx>
      <c:valAx>
        <c:axId val="564125120"/>
        <c:scaling>
          <c:orientation val="minMax"/>
        </c:scaling>
        <c:delete val="1"/>
        <c:axPos val="t"/>
        <c:numFmt formatCode="0.00%" sourceLinked="1"/>
        <c:majorTickMark val="none"/>
        <c:minorTickMark val="none"/>
        <c:tickLblPos val="nextTo"/>
        <c:crossAx val="368268320"/>
        <c:crosses val="autoZero"/>
        <c:crossBetween val="between"/>
      </c:valAx>
      <c:spPr>
        <a:noFill/>
        <a:ln>
          <a:noFill/>
        </a:ln>
        <a:effectLst/>
      </c:spPr>
    </c:plotArea>
    <c:legend>
      <c:legendPos val="t"/>
      <c:layout>
        <c:manualLayout>
          <c:xMode val="edge"/>
          <c:yMode val="edge"/>
          <c:x val="0.23280626472263258"/>
          <c:y val="8.8429682060181966E-2"/>
          <c:w val="0.5343874705547349"/>
          <c:h val="4.6315447309789842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baseline="0" dirty="0"/>
              <a:t>TVK Seats vs. Legacy Party Flipped Seats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Seats held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DMK</c:v>
                </c:pt>
                <c:pt idx="1">
                  <c:v>AIADMK</c:v>
                </c:pt>
                <c:pt idx="2">
                  <c:v>INC</c:v>
                </c:pt>
                <c:pt idx="3">
                  <c:v>Others</c:v>
                </c:pt>
              </c:strCache>
            </c:strRef>
          </c:cat>
          <c:val>
            <c:numRef>
              <c:f>Sheet1!$B$2:$B$5</c:f>
              <c:numCache>
                <c:formatCode>General</c:formatCode>
                <c:ptCount val="4"/>
                <c:pt idx="0">
                  <c:v>133</c:v>
                </c:pt>
                <c:pt idx="1">
                  <c:v>66</c:v>
                </c:pt>
                <c:pt idx="2">
                  <c:v>18</c:v>
                </c:pt>
                <c:pt idx="3">
                  <c:v>17</c:v>
                </c:pt>
              </c:numCache>
            </c:numRef>
          </c:val>
          <c:extLst>
            <c:ext xmlns:c16="http://schemas.microsoft.com/office/drawing/2014/chart" uri="{C3380CC4-5D6E-409C-BE32-E72D297353CC}">
              <c16:uniqueId val="{00000000-7216-43B2-AA37-1AD3989CAEF0}"/>
            </c:ext>
          </c:extLst>
        </c:ser>
        <c:ser>
          <c:idx val="1"/>
          <c:order val="1"/>
          <c:tx>
            <c:strRef>
              <c:f>Sheet1!$C$1</c:f>
              <c:strCache>
                <c:ptCount val="1"/>
                <c:pt idx="0">
                  <c:v>Flipped to TVK</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DMK</c:v>
                </c:pt>
                <c:pt idx="1">
                  <c:v>AIADMK</c:v>
                </c:pt>
                <c:pt idx="2">
                  <c:v>INC</c:v>
                </c:pt>
                <c:pt idx="3">
                  <c:v>Others</c:v>
                </c:pt>
              </c:strCache>
            </c:strRef>
          </c:cat>
          <c:val>
            <c:numRef>
              <c:f>Sheet1!$C$2:$C$5</c:f>
              <c:numCache>
                <c:formatCode>General</c:formatCode>
                <c:ptCount val="4"/>
                <c:pt idx="0">
                  <c:v>65</c:v>
                </c:pt>
                <c:pt idx="1">
                  <c:v>26</c:v>
                </c:pt>
                <c:pt idx="2">
                  <c:v>11</c:v>
                </c:pt>
                <c:pt idx="3">
                  <c:v>6</c:v>
                </c:pt>
              </c:numCache>
            </c:numRef>
          </c:val>
          <c:extLst>
            <c:ext xmlns:c16="http://schemas.microsoft.com/office/drawing/2014/chart" uri="{C3380CC4-5D6E-409C-BE32-E72D297353CC}">
              <c16:uniqueId val="{00000001-7216-43B2-AA37-1AD3989CAEF0}"/>
            </c:ext>
          </c:extLst>
        </c:ser>
        <c:ser>
          <c:idx val="2"/>
          <c:order val="2"/>
          <c:tx>
            <c:strRef>
              <c:f>Sheet1!$D$1</c:f>
              <c:strCache>
                <c:ptCount val="1"/>
                <c:pt idx="0">
                  <c:v>Retained or went elsewhere</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DMK</c:v>
                </c:pt>
                <c:pt idx="1">
                  <c:v>AIADMK</c:v>
                </c:pt>
                <c:pt idx="2">
                  <c:v>INC</c:v>
                </c:pt>
                <c:pt idx="3">
                  <c:v>Others</c:v>
                </c:pt>
              </c:strCache>
            </c:strRef>
          </c:cat>
          <c:val>
            <c:numRef>
              <c:f>Sheet1!$D$2:$D$5</c:f>
              <c:numCache>
                <c:formatCode>General</c:formatCode>
                <c:ptCount val="4"/>
                <c:pt idx="0">
                  <c:v>68</c:v>
                </c:pt>
                <c:pt idx="1">
                  <c:v>40</c:v>
                </c:pt>
                <c:pt idx="2">
                  <c:v>7</c:v>
                </c:pt>
                <c:pt idx="3">
                  <c:v>11</c:v>
                </c:pt>
              </c:numCache>
            </c:numRef>
          </c:val>
          <c:extLst>
            <c:ext xmlns:c16="http://schemas.microsoft.com/office/drawing/2014/chart" uri="{C3380CC4-5D6E-409C-BE32-E72D297353CC}">
              <c16:uniqueId val="{00000002-7216-43B2-AA37-1AD3989CAEF0}"/>
            </c:ext>
          </c:extLst>
        </c:ser>
        <c:dLbls>
          <c:dLblPos val="ctr"/>
          <c:showLegendKey val="0"/>
          <c:showVal val="1"/>
          <c:showCatName val="0"/>
          <c:showSerName val="0"/>
          <c:showPercent val="0"/>
          <c:showBubbleSize val="0"/>
        </c:dLbls>
        <c:gapWidth val="150"/>
        <c:overlap val="100"/>
        <c:axId val="743508288"/>
        <c:axId val="248979856"/>
      </c:barChart>
      <c:catAx>
        <c:axId val="74350828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48979856"/>
        <c:crosses val="autoZero"/>
        <c:auto val="1"/>
        <c:lblAlgn val="ctr"/>
        <c:lblOffset val="100"/>
        <c:noMultiLvlLbl val="0"/>
      </c:catAx>
      <c:valAx>
        <c:axId val="248979856"/>
        <c:scaling>
          <c:orientation val="minMax"/>
        </c:scaling>
        <c:delete val="1"/>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74350828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2">
        <a:lumMod val="20000"/>
        <a:lumOff val="80000"/>
        <a:alpha val="75000"/>
      </a:schemeClr>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Flip</a:t>
            </a:r>
            <a:r>
              <a:rPr lang="en-IN" baseline="0" dirty="0"/>
              <a:t>ped Seats vs. Retained Seats</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percentStacked"/>
        <c:varyColors val="0"/>
        <c:ser>
          <c:idx val="0"/>
          <c:order val="0"/>
          <c:tx>
            <c:strRef>
              <c:f>Sheet1!$B$1</c:f>
              <c:strCache>
                <c:ptCount val="1"/>
                <c:pt idx="0">
                  <c:v>Flipped</c:v>
                </c:pt>
              </c:strCache>
            </c:strRef>
          </c:tx>
          <c:spPr>
            <a:solidFill>
              <a:schemeClr val="accent4">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pt idx="0">
                  <c:v>234</c:v>
                </c:pt>
              </c:numCache>
            </c:numRef>
          </c:cat>
          <c:val>
            <c:numRef>
              <c:f>Sheet1!$B$2</c:f>
              <c:numCache>
                <c:formatCode>General</c:formatCode>
                <c:ptCount val="1"/>
                <c:pt idx="0">
                  <c:v>163</c:v>
                </c:pt>
              </c:numCache>
            </c:numRef>
          </c:val>
          <c:extLst>
            <c:ext xmlns:c16="http://schemas.microsoft.com/office/drawing/2014/chart" uri="{C3380CC4-5D6E-409C-BE32-E72D297353CC}">
              <c16:uniqueId val="{00000000-18E1-4E68-A494-79BD6EA9A7ED}"/>
            </c:ext>
          </c:extLst>
        </c:ser>
        <c:ser>
          <c:idx val="1"/>
          <c:order val="1"/>
          <c:tx>
            <c:strRef>
              <c:f>Sheet1!$C$1</c:f>
              <c:strCache>
                <c:ptCount val="1"/>
                <c:pt idx="0">
                  <c:v>Retained</c:v>
                </c:pt>
              </c:strCache>
            </c:strRef>
          </c:tx>
          <c:spPr>
            <a:solidFill>
              <a:schemeClr val="accent4">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1">
                        <a:lumMod val="50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pt idx="0">
                  <c:v>234</c:v>
                </c:pt>
              </c:numCache>
            </c:numRef>
          </c:cat>
          <c:val>
            <c:numRef>
              <c:f>Sheet1!$C$2</c:f>
              <c:numCache>
                <c:formatCode>General</c:formatCode>
                <c:ptCount val="1"/>
                <c:pt idx="0">
                  <c:v>71</c:v>
                </c:pt>
              </c:numCache>
            </c:numRef>
          </c:val>
          <c:extLst>
            <c:ext xmlns:c16="http://schemas.microsoft.com/office/drawing/2014/chart" uri="{C3380CC4-5D6E-409C-BE32-E72D297353CC}">
              <c16:uniqueId val="{00000003-18E1-4E68-A494-79BD6EA9A7ED}"/>
            </c:ext>
          </c:extLst>
        </c:ser>
        <c:dLbls>
          <c:dLblPos val="ctr"/>
          <c:showLegendKey val="0"/>
          <c:showVal val="1"/>
          <c:showCatName val="0"/>
          <c:showSerName val="0"/>
          <c:showPercent val="0"/>
          <c:showBubbleSize val="0"/>
        </c:dLbls>
        <c:gapWidth val="150"/>
        <c:overlap val="100"/>
        <c:axId val="555089472"/>
        <c:axId val="564115968"/>
      </c:barChart>
      <c:catAx>
        <c:axId val="5550894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4115968"/>
        <c:crosses val="autoZero"/>
        <c:auto val="1"/>
        <c:lblAlgn val="ctr"/>
        <c:lblOffset val="100"/>
        <c:noMultiLvlLbl val="0"/>
      </c:catAx>
      <c:valAx>
        <c:axId val="564115968"/>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5089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alpha val="20000"/>
      </a:schemeClr>
    </a:soli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dirty="0"/>
              <a:t>Seats</a:t>
            </a:r>
            <a:r>
              <a:rPr lang="en-IN" baseline="0" dirty="0"/>
              <a:t> Distribution 2021 vs. 2026</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2021</c:v>
                </c:pt>
              </c:strCache>
            </c:strRef>
          </c:tx>
          <c:spPr>
            <a:solidFill>
              <a:schemeClr val="accent5">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DMK</c:v>
                </c:pt>
                <c:pt idx="1">
                  <c:v>AIADMK</c:v>
                </c:pt>
                <c:pt idx="2">
                  <c:v>INC</c:v>
                </c:pt>
                <c:pt idx="3">
                  <c:v>TVK</c:v>
                </c:pt>
                <c:pt idx="4">
                  <c:v>OTHERS</c:v>
                </c:pt>
              </c:strCache>
            </c:strRef>
          </c:cat>
          <c:val>
            <c:numRef>
              <c:f>Sheet1!$B$2:$B$6</c:f>
              <c:numCache>
                <c:formatCode>General</c:formatCode>
                <c:ptCount val="5"/>
                <c:pt idx="0">
                  <c:v>133</c:v>
                </c:pt>
                <c:pt idx="1">
                  <c:v>66</c:v>
                </c:pt>
                <c:pt idx="2">
                  <c:v>18</c:v>
                </c:pt>
                <c:pt idx="3">
                  <c:v>0</c:v>
                </c:pt>
                <c:pt idx="4">
                  <c:v>17</c:v>
                </c:pt>
              </c:numCache>
            </c:numRef>
          </c:val>
          <c:extLst>
            <c:ext xmlns:c16="http://schemas.microsoft.com/office/drawing/2014/chart" uri="{C3380CC4-5D6E-409C-BE32-E72D297353CC}">
              <c16:uniqueId val="{00000000-EDA2-4878-B056-F5EB8BC52EF3}"/>
            </c:ext>
          </c:extLst>
        </c:ser>
        <c:ser>
          <c:idx val="1"/>
          <c:order val="1"/>
          <c:tx>
            <c:strRef>
              <c:f>Sheet1!$C$1</c:f>
              <c:strCache>
                <c:ptCount val="1"/>
                <c:pt idx="0">
                  <c:v>2026</c:v>
                </c:pt>
              </c:strCache>
            </c:strRef>
          </c:tx>
          <c:spPr>
            <a:solidFill>
              <a:schemeClr val="accent5">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DMK</c:v>
                </c:pt>
                <c:pt idx="1">
                  <c:v>AIADMK</c:v>
                </c:pt>
                <c:pt idx="2">
                  <c:v>INC</c:v>
                </c:pt>
                <c:pt idx="3">
                  <c:v>TVK</c:v>
                </c:pt>
                <c:pt idx="4">
                  <c:v>OTHERS</c:v>
                </c:pt>
              </c:strCache>
            </c:strRef>
          </c:cat>
          <c:val>
            <c:numRef>
              <c:f>Sheet1!$C$2:$C$6</c:f>
              <c:numCache>
                <c:formatCode>General</c:formatCode>
                <c:ptCount val="5"/>
                <c:pt idx="0">
                  <c:v>59</c:v>
                </c:pt>
                <c:pt idx="1">
                  <c:v>22</c:v>
                </c:pt>
                <c:pt idx="2">
                  <c:v>5</c:v>
                </c:pt>
                <c:pt idx="3">
                  <c:v>108</c:v>
                </c:pt>
                <c:pt idx="4">
                  <c:v>40</c:v>
                </c:pt>
              </c:numCache>
            </c:numRef>
          </c:val>
          <c:extLst>
            <c:ext xmlns:c16="http://schemas.microsoft.com/office/drawing/2014/chart" uri="{C3380CC4-5D6E-409C-BE32-E72D297353CC}">
              <c16:uniqueId val="{00000001-EDA2-4878-B056-F5EB8BC52EF3}"/>
            </c:ext>
          </c:extLst>
        </c:ser>
        <c:dLbls>
          <c:dLblPos val="outEnd"/>
          <c:showLegendKey val="0"/>
          <c:showVal val="1"/>
          <c:showCatName val="0"/>
          <c:showSerName val="0"/>
          <c:showPercent val="0"/>
          <c:showBubbleSize val="0"/>
        </c:dLbls>
        <c:gapWidth val="182"/>
        <c:axId val="559872912"/>
        <c:axId val="86056400"/>
      </c:barChart>
      <c:catAx>
        <c:axId val="5598729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86056400"/>
        <c:crosses val="autoZero"/>
        <c:auto val="1"/>
        <c:lblAlgn val="ctr"/>
        <c:lblOffset val="100"/>
        <c:noMultiLvlLbl val="0"/>
      </c:catAx>
      <c:valAx>
        <c:axId val="860564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598729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40000"/>
        <a:lumOff val="60000"/>
        <a:alpha val="60000"/>
      </a:schemeClr>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2026 – Votes </a:t>
            </a:r>
            <a:r>
              <a:rPr lang="en-US" baseline="0" dirty="0"/>
              <a:t>Distribution </a:t>
            </a:r>
            <a:r>
              <a:rPr lang="en-US" sz="1862" b="0" i="0" u="none" strike="noStrike" baseline="0" dirty="0">
                <a:effectLst/>
              </a:rPr>
              <a:t>–</a:t>
            </a:r>
            <a:r>
              <a:rPr lang="en-US" baseline="0" dirty="0"/>
              <a:t> </a:t>
            </a:r>
            <a:r>
              <a:rPr lang="en-IN" sz="1862" b="0" i="0" u="none" strike="noStrike" baseline="0" dirty="0">
                <a:effectLst/>
              </a:rPr>
              <a:t>Gummidipoondi</a:t>
            </a:r>
            <a:endParaRPr lang="en-US" b="0"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VOTES</c:v>
                </c:pt>
              </c:strCache>
            </c:strRef>
          </c:tx>
          <c:spPr>
            <a:solidFill>
              <a:schemeClr val="accent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3-2C3B-434B-BE5E-52E4BDAFC20A}"/>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TOTAL VOTES</c:v>
                </c:pt>
                <c:pt idx="1">
                  <c:v>TVK</c:v>
                </c:pt>
                <c:pt idx="2">
                  <c:v>AIADMK</c:v>
                </c:pt>
                <c:pt idx="3">
                  <c:v>DMK</c:v>
                </c:pt>
                <c:pt idx="4">
                  <c:v>NTK</c:v>
                </c:pt>
                <c:pt idx="5">
                  <c:v>NOTA</c:v>
                </c:pt>
                <c:pt idx="6">
                  <c:v>OTHERS</c:v>
                </c:pt>
              </c:strCache>
            </c:strRef>
          </c:cat>
          <c:val>
            <c:numRef>
              <c:f>Sheet1!$B$2:$B$8</c:f>
              <c:numCache>
                <c:formatCode>General</c:formatCode>
                <c:ptCount val="7"/>
                <c:pt idx="0">
                  <c:v>232522</c:v>
                </c:pt>
                <c:pt idx="1">
                  <c:v>94320</c:v>
                </c:pt>
                <c:pt idx="2">
                  <c:v>66375</c:v>
                </c:pt>
                <c:pt idx="3">
                  <c:v>62492</c:v>
                </c:pt>
                <c:pt idx="4">
                  <c:v>4756</c:v>
                </c:pt>
                <c:pt idx="5">
                  <c:v>937</c:v>
                </c:pt>
                <c:pt idx="6">
                  <c:v>3642</c:v>
                </c:pt>
              </c:numCache>
            </c:numRef>
          </c:val>
          <c:extLst>
            <c:ext xmlns:c16="http://schemas.microsoft.com/office/drawing/2014/chart" uri="{C3380CC4-5D6E-409C-BE32-E72D297353CC}">
              <c16:uniqueId val="{00000000-2C3B-434B-BE5E-52E4BDAFC20A}"/>
            </c:ext>
          </c:extLst>
        </c:ser>
        <c:dLbls>
          <c:dLblPos val="outEnd"/>
          <c:showLegendKey val="0"/>
          <c:showVal val="1"/>
          <c:showCatName val="0"/>
          <c:showSerName val="0"/>
          <c:showPercent val="0"/>
          <c:showBubbleSize val="0"/>
        </c:dLbls>
        <c:gapWidth val="219"/>
        <c:overlap val="-27"/>
        <c:axId val="569364992"/>
        <c:axId val="446252576"/>
      </c:barChart>
      <c:catAx>
        <c:axId val="5693649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446252576"/>
        <c:crosses val="autoZero"/>
        <c:auto val="1"/>
        <c:lblAlgn val="ctr"/>
        <c:lblOffset val="100"/>
        <c:noMultiLvlLbl val="0"/>
      </c:catAx>
      <c:valAx>
        <c:axId val="4462525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693649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EXTREME MARGINS COMPARISON</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2021</c:v>
                </c:pt>
              </c:strCache>
            </c:strRef>
          </c:tx>
          <c:spPr>
            <a:solidFill>
              <a:schemeClr val="accent6">
                <a:tint val="77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MOV above 50%</c:v>
                </c:pt>
                <c:pt idx="1">
                  <c:v>MOV between 35% and 50%</c:v>
                </c:pt>
                <c:pt idx="2">
                  <c:v>MOV less than 35%</c:v>
                </c:pt>
              </c:strCache>
            </c:strRef>
          </c:cat>
          <c:val>
            <c:numRef>
              <c:f>Sheet1!$B$2:$B$4</c:f>
              <c:numCache>
                <c:formatCode>General</c:formatCode>
                <c:ptCount val="3"/>
                <c:pt idx="0">
                  <c:v>2</c:v>
                </c:pt>
                <c:pt idx="1">
                  <c:v>7</c:v>
                </c:pt>
                <c:pt idx="2">
                  <c:v>225</c:v>
                </c:pt>
              </c:numCache>
            </c:numRef>
          </c:val>
          <c:extLst>
            <c:ext xmlns:c16="http://schemas.microsoft.com/office/drawing/2014/chart" uri="{C3380CC4-5D6E-409C-BE32-E72D297353CC}">
              <c16:uniqueId val="{00000000-B022-4E5E-B0AA-4924E618E5BE}"/>
            </c:ext>
          </c:extLst>
        </c:ser>
        <c:ser>
          <c:idx val="1"/>
          <c:order val="1"/>
          <c:tx>
            <c:strRef>
              <c:f>Sheet1!$C$1</c:f>
              <c:strCache>
                <c:ptCount val="1"/>
                <c:pt idx="0">
                  <c:v>2026</c:v>
                </c:pt>
              </c:strCache>
            </c:strRef>
          </c:tx>
          <c:spPr>
            <a:solidFill>
              <a:schemeClr val="accent6">
                <a:shade val="76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MOV above 50%</c:v>
                </c:pt>
                <c:pt idx="1">
                  <c:v>MOV between 35% and 50%</c:v>
                </c:pt>
                <c:pt idx="2">
                  <c:v>MOV less than 35%</c:v>
                </c:pt>
              </c:strCache>
            </c:strRef>
          </c:cat>
          <c:val>
            <c:numRef>
              <c:f>Sheet1!$C$2:$C$4</c:f>
              <c:numCache>
                <c:formatCode>General</c:formatCode>
                <c:ptCount val="3"/>
                <c:pt idx="0">
                  <c:v>0</c:v>
                </c:pt>
                <c:pt idx="1">
                  <c:v>1</c:v>
                </c:pt>
                <c:pt idx="2">
                  <c:v>233</c:v>
                </c:pt>
              </c:numCache>
            </c:numRef>
          </c:val>
          <c:extLst>
            <c:ext xmlns:c16="http://schemas.microsoft.com/office/drawing/2014/chart" uri="{C3380CC4-5D6E-409C-BE32-E72D297353CC}">
              <c16:uniqueId val="{00000001-B022-4E5E-B0AA-4924E618E5BE}"/>
            </c:ext>
          </c:extLst>
        </c:ser>
        <c:dLbls>
          <c:dLblPos val="outEnd"/>
          <c:showLegendKey val="0"/>
          <c:showVal val="1"/>
          <c:showCatName val="0"/>
          <c:showSerName val="0"/>
          <c:showPercent val="0"/>
          <c:showBubbleSize val="0"/>
        </c:dLbls>
        <c:gapWidth val="182"/>
        <c:axId val="705026448"/>
        <c:axId val="397265568"/>
      </c:barChart>
      <c:catAx>
        <c:axId val="70502644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265568"/>
        <c:crosses val="autoZero"/>
        <c:auto val="1"/>
        <c:lblAlgn val="ctr"/>
        <c:lblOffset val="100"/>
        <c:noMultiLvlLbl val="0"/>
      </c:catAx>
      <c:valAx>
        <c:axId val="397265568"/>
        <c:scaling>
          <c:orientation val="minMax"/>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02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lumMod val="95000"/>
      </a:schemeClr>
    </a:solid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No. of Seats where TVK got the first place</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Sheet1!$B$1</c:f>
              <c:strCache>
                <c:ptCount val="1"/>
                <c:pt idx="0">
                  <c:v>No. of Seats</c:v>
                </c:pt>
              </c:strCache>
            </c:strRef>
          </c:tx>
          <c:spPr>
            <a:solidFill>
              <a:schemeClr val="dk1">
                <a:tint val="885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TVK Total Seats</c:v>
                </c:pt>
                <c:pt idx="1">
                  <c:v>Close call — MOV below 10%</c:v>
                </c:pt>
                <c:pt idx="2">
                  <c:v>Comfortable — MOV 10% to 20%</c:v>
                </c:pt>
                <c:pt idx="3">
                  <c:v>Dominant — MOV above 20%</c:v>
                </c:pt>
              </c:strCache>
            </c:strRef>
          </c:cat>
          <c:val>
            <c:numRef>
              <c:f>Sheet1!$B$2:$B$5</c:f>
              <c:numCache>
                <c:formatCode>General</c:formatCode>
                <c:ptCount val="4"/>
                <c:pt idx="0">
                  <c:v>108</c:v>
                </c:pt>
                <c:pt idx="1">
                  <c:v>61</c:v>
                </c:pt>
                <c:pt idx="2">
                  <c:v>33</c:v>
                </c:pt>
                <c:pt idx="3">
                  <c:v>14</c:v>
                </c:pt>
              </c:numCache>
            </c:numRef>
          </c:val>
          <c:extLst>
            <c:ext xmlns:c16="http://schemas.microsoft.com/office/drawing/2014/chart" uri="{C3380CC4-5D6E-409C-BE32-E72D297353CC}">
              <c16:uniqueId val="{00000000-B022-4E5E-B0AA-4924E618E5BE}"/>
            </c:ext>
          </c:extLst>
        </c:ser>
        <c:dLbls>
          <c:dLblPos val="outEnd"/>
          <c:showLegendKey val="0"/>
          <c:showVal val="1"/>
          <c:showCatName val="0"/>
          <c:showSerName val="0"/>
          <c:showPercent val="0"/>
          <c:showBubbleSize val="0"/>
        </c:dLbls>
        <c:gapWidth val="182"/>
        <c:axId val="705026448"/>
        <c:axId val="397265568"/>
      </c:barChart>
      <c:catAx>
        <c:axId val="705026448"/>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97265568"/>
        <c:crosses val="autoZero"/>
        <c:auto val="1"/>
        <c:lblAlgn val="ctr"/>
        <c:lblOffset val="100"/>
        <c:noMultiLvlLbl val="0"/>
      </c:catAx>
      <c:valAx>
        <c:axId val="397265568"/>
        <c:scaling>
          <c:orientation val="minMax"/>
        </c:scaling>
        <c:delete val="0"/>
        <c:axPos val="t"/>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0502644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4">
        <a:lumMod val="20000"/>
        <a:lumOff val="80000"/>
        <a:alpha val="75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withinLinearReversed" id="25">
  <a:schemeClr val="accent5"/>
</cs:colorStyle>
</file>

<file path=ppt/charts/colors3.xml><?xml version="1.0" encoding="utf-8"?>
<cs:colorStyle xmlns:cs="http://schemas.microsoft.com/office/drawing/2012/chartStyle" xmlns:a="http://schemas.openxmlformats.org/drawingml/2006/main" meth="withinLinear" id="19">
  <a:schemeClr val="accent6"/>
</cs:colorStyle>
</file>

<file path=ppt/charts/colors4.xml><?xml version="1.0" encoding="utf-8"?>
<cs:colorStyle xmlns:cs="http://schemas.microsoft.com/office/drawing/2012/chartStyle" xmlns:a="http://schemas.openxmlformats.org/drawingml/2006/main" meth="withinLinearReversed" id="24">
  <a:schemeClr val="accent4"/>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withinLinear" id="18">
  <a:schemeClr val="accent5"/>
</cs:colorStyle>
</file>

<file path=ppt/charts/colors9.xml><?xml version="1.0" encoding="utf-8"?>
<cs:colorStyle xmlns:cs="http://schemas.microsoft.com/office/drawing/2012/chartStyle" xmlns:a="http://schemas.openxmlformats.org/drawingml/2006/main" meth="withinLinearReversed" id="22">
  <a:schemeClr val="accent2"/>
</cs:colorStyle>
</file>

<file path=ppt/charts/colors10.xml><?xml version="1.0" encoding="utf-8"?>
<cs:colorStyle xmlns:cs="http://schemas.microsoft.com/office/drawing/2012/chartStyle" xmlns:a="http://schemas.openxmlformats.org/drawingml/2006/main" meth="withinLinearReversed" id="26">
  <a:schemeClr val="accent6"/>
</cs:colorStyle>
</file>

<file path=ppt/charts/colors1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DB98CD-9428-4636-84DB-8E8D90F93A9C}" type="datetimeFigureOut">
              <a:rPr lang="en-IN" smtClean="0"/>
              <a:t>24-05-2026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D5EBAE-0B15-488C-B9BF-3C742A02AB6B}" type="slidenum">
              <a:rPr lang="en-IN" smtClean="0"/>
              <a:t>‹#›</a:t>
            </a:fld>
            <a:endParaRPr lang="en-IN"/>
          </a:p>
        </p:txBody>
      </p:sp>
    </p:spTree>
    <p:extLst>
      <p:ext uri="{BB962C8B-B14F-4D97-AF65-F5344CB8AC3E}">
        <p14:creationId xmlns:p14="http://schemas.microsoft.com/office/powerpoint/2010/main" val="357681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4D5EBAE-0B15-488C-B9BF-3C742A02AB6B}" type="slidenum">
              <a:rPr lang="en-IN" smtClean="0"/>
              <a:t>1</a:t>
            </a:fld>
            <a:endParaRPr lang="en-IN"/>
          </a:p>
        </p:txBody>
      </p:sp>
    </p:spTree>
    <p:extLst>
      <p:ext uri="{BB962C8B-B14F-4D97-AF65-F5344CB8AC3E}">
        <p14:creationId xmlns:p14="http://schemas.microsoft.com/office/powerpoint/2010/main" val="922686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59B0D-B750-4CC2-A4F6-C7EBC9C56D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A548BB-DA2B-469A-B2F2-22EEE8F4E6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FC325F-7919-4515-B301-3B293B6B5172}"/>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1F7960EF-7CD8-46C4-BD84-454E4151DF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EE88D8-B947-4C7C-BBA7-1F046C4078C9}"/>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812880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F09F6-8F76-4972-BA5B-94A98421B7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2797CD-FCD0-45D9-BC3B-183F0D64511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9595AF-2D79-42C8-AAF0-0EDC5BD58492}"/>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117AA6DA-7671-441A-AE09-E57594505C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B07C52-C4E1-4DE2-9239-FF38CD0DA531}"/>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103748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1FA03-94A8-4284-BF85-CA3B5FD856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6BD29A-E4B6-4A0C-A84E-9583245AFD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9AA8719-18BD-4B8B-B4EF-E0C8C1356ADF}"/>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9DD14194-7B63-4947-B18F-B848AC6595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CFE56C-5EB5-4A1C-BA60-921DCEA1518E}"/>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595588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3F83D-98CB-4C35-B124-DDFE773ADF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D5F09B-0559-48F4-8A1E-77CBDE99762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A50FC9-254A-430D-9825-B4CAFE7673C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96FFAF9-6545-4DFF-B29D-78E4B4F31045}"/>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6" name="Footer Placeholder 5">
            <a:extLst>
              <a:ext uri="{FF2B5EF4-FFF2-40B4-BE49-F238E27FC236}">
                <a16:creationId xmlns:a16="http://schemas.microsoft.com/office/drawing/2014/main" id="{56A65590-F5EC-4A7E-B34A-87260565D0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7ED8E4-C310-4E7E-AD77-EA89575D616D}"/>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3340898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3E431-C466-4B23-82BA-BAB5B0335F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026C4-7AF8-4D13-9490-75191F75FE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F30CE3A-DFB3-48A1-9325-A4E40258ADE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8F9F61-9080-4953-B696-59434AB27C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D825E64-5B93-4BA1-806E-962ACCE5A7B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A7858A-635C-4F24-A65C-BA068C6AC854}"/>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8" name="Footer Placeholder 7">
            <a:extLst>
              <a:ext uri="{FF2B5EF4-FFF2-40B4-BE49-F238E27FC236}">
                <a16:creationId xmlns:a16="http://schemas.microsoft.com/office/drawing/2014/main" id="{7080AE9B-CA5A-4924-A4B9-6B5649C843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2B1A33-E389-4BEA-89E3-2207B098BAB1}"/>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180742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20E9-4808-44BC-AF48-F0EA689EF8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4E512D-1EFA-43BE-BBC8-2B0BC219CAEE}"/>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4" name="Footer Placeholder 3">
            <a:extLst>
              <a:ext uri="{FF2B5EF4-FFF2-40B4-BE49-F238E27FC236}">
                <a16:creationId xmlns:a16="http://schemas.microsoft.com/office/drawing/2014/main" id="{0C109CE0-9F35-40EA-9703-D56A9BB070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F46EE74-D3BB-4B38-8537-229EB8024A6C}"/>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57263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8B6A22-A705-4878-B124-0C4EDC06A515}"/>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3" name="Footer Placeholder 2">
            <a:extLst>
              <a:ext uri="{FF2B5EF4-FFF2-40B4-BE49-F238E27FC236}">
                <a16:creationId xmlns:a16="http://schemas.microsoft.com/office/drawing/2014/main" id="{92AD689C-BD64-4F3E-8C19-6FD26C27D6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D3BC75-D1A8-4A95-8C45-DF8D44715E60}"/>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1667726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C358-9BC0-403F-9DED-C24B4C80A0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C1962E-3205-488B-87D9-6D05162F0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55B293-52E0-431D-ABF3-CCFD4047D7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8EE1D2A-4507-46CF-83FA-E31F8A19E8E6}"/>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6" name="Footer Placeholder 5">
            <a:extLst>
              <a:ext uri="{FF2B5EF4-FFF2-40B4-BE49-F238E27FC236}">
                <a16:creationId xmlns:a16="http://schemas.microsoft.com/office/drawing/2014/main" id="{D8221E24-0E64-47D6-B5AC-9A971CEB7E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4E75E-3B61-4215-86EB-1A3839BEDC9A}"/>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217523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52D2-84EE-404E-B6D0-537D834C3D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487CF4E-7DE7-406C-9FE8-2C6F9E02E2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D5954A-7580-4720-8346-A6F1AFFE6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BBB2BBF-A574-4C62-B190-4F3DA81904E1}"/>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6" name="Footer Placeholder 5">
            <a:extLst>
              <a:ext uri="{FF2B5EF4-FFF2-40B4-BE49-F238E27FC236}">
                <a16:creationId xmlns:a16="http://schemas.microsoft.com/office/drawing/2014/main" id="{835D75F6-A2AA-4901-81DC-B48BECAA8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3F1482-20D6-4E33-A276-97CB342158DB}"/>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931333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F1F36-2273-4B01-9CBD-D5B5CA358C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FB13C0-B891-4FF6-9B50-4AD240EA05B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41B318-7D16-4776-825C-EBB0900F5B76}"/>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78215998-AE2B-45B6-BD9E-A61BD553BC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7844027-7A0D-4784-A9CD-14040E1747E6}"/>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3524743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DE7D0D-FE66-473A-8C34-5CF147EA01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4854F28-09B6-42EA-93AF-316D803B0DE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A5F44B-873B-4609-AFF7-83A54DFCD55A}"/>
              </a:ext>
            </a:extLst>
          </p:cNvPr>
          <p:cNvSpPr>
            <a:spLocks noGrp="1"/>
          </p:cNvSpPr>
          <p:nvPr>
            <p:ph type="dt" sz="half" idx="10"/>
          </p:nvPr>
        </p:nvSpPr>
        <p:spPr/>
        <p:txBody>
          <a:body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CC7E5B1B-B3EC-4A8A-A508-890DD054F1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BDA068-781E-4CCF-8A45-5B1A040F4EE6}"/>
              </a:ext>
            </a:extLst>
          </p:cNvPr>
          <p:cNvSpPr>
            <a:spLocks noGrp="1"/>
          </p:cNvSpPr>
          <p:nvPr>
            <p:ph type="sldNum" sz="quarter" idx="12"/>
          </p:nvPr>
        </p:nvSpPr>
        <p:spPr/>
        <p:txBody>
          <a:bodyPr/>
          <a:lstStyle/>
          <a:p>
            <a:fld id="{9DD502EB-E293-40A9-B9D8-D3682DA37EC1}" type="slidenum">
              <a:rPr lang="en-IN" smtClean="0"/>
              <a:t>‹#›</a:t>
            </a:fld>
            <a:endParaRPr lang="en-IN"/>
          </a:p>
        </p:txBody>
      </p:sp>
    </p:spTree>
    <p:extLst>
      <p:ext uri="{BB962C8B-B14F-4D97-AF65-F5344CB8AC3E}">
        <p14:creationId xmlns:p14="http://schemas.microsoft.com/office/powerpoint/2010/main" val="2785432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2EF76-5699-416A-9761-1B87D2A193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AE8A90-2927-42AD-BDE2-FC15735035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BB6694-A42E-49A4-85CF-999721EE0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FABD9D-5DEC-4302-B35C-1DFA2B2EB146}" type="datetimeFigureOut">
              <a:rPr lang="en-IN" smtClean="0"/>
              <a:t>24-05-2026</a:t>
            </a:fld>
            <a:endParaRPr lang="en-IN"/>
          </a:p>
        </p:txBody>
      </p:sp>
      <p:sp>
        <p:nvSpPr>
          <p:cNvPr id="5" name="Footer Placeholder 4">
            <a:extLst>
              <a:ext uri="{FF2B5EF4-FFF2-40B4-BE49-F238E27FC236}">
                <a16:creationId xmlns:a16="http://schemas.microsoft.com/office/drawing/2014/main" id="{540EC71A-8A4A-4C7B-AECB-15639194E7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42BF685-5CD4-4092-94FC-64683B015B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502EB-E293-40A9-B9D8-D3682DA37EC1}" type="slidenum">
              <a:rPr lang="en-IN" smtClean="0"/>
              <a:t>‹#›</a:t>
            </a:fld>
            <a:endParaRPr lang="en-IN"/>
          </a:p>
        </p:txBody>
      </p:sp>
    </p:spTree>
    <p:extLst>
      <p:ext uri="{BB962C8B-B14F-4D97-AF65-F5344CB8AC3E}">
        <p14:creationId xmlns:p14="http://schemas.microsoft.com/office/powerpoint/2010/main" val="2593808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ffidavit.eci.gov.i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A5AB7-0207-4308-AEA7-F504DD2A3C1A}"/>
              </a:ext>
            </a:extLst>
          </p:cNvPr>
          <p:cNvSpPr>
            <a:spLocks noGrp="1"/>
          </p:cNvSpPr>
          <p:nvPr>
            <p:ph type="ctrTitle"/>
          </p:nvPr>
        </p:nvSpPr>
        <p:spPr/>
        <p:txBody>
          <a:bodyPr>
            <a:noAutofit/>
          </a:bodyPr>
          <a:lstStyle/>
          <a:p>
            <a:r>
              <a:rPr lang="en-US" sz="4000" dirty="0">
                <a:latin typeface="Arial Black" panose="020B0A04020102020204" pitchFamily="34" charset="0"/>
              </a:rPr>
              <a:t>Decoding the 2026 Tamil Nadu Assembly Election</a:t>
            </a:r>
            <a:br>
              <a:rPr lang="en-US" sz="4000" dirty="0">
                <a:latin typeface="Arial Black" panose="020B0A04020102020204" pitchFamily="34" charset="0"/>
              </a:rPr>
            </a:br>
            <a:br>
              <a:rPr lang="en-US" sz="4000" dirty="0">
                <a:latin typeface="Arial Black" panose="020B0A04020102020204" pitchFamily="34" charset="0"/>
              </a:rPr>
            </a:br>
            <a:r>
              <a:rPr lang="en-US" sz="3200" dirty="0">
                <a:solidFill>
                  <a:schemeClr val="accent1">
                    <a:lumMod val="50000"/>
                  </a:schemeClr>
                </a:solidFill>
                <a:latin typeface="Arial Black" panose="020B0A04020102020204" pitchFamily="34" charset="0"/>
              </a:rPr>
              <a:t>A DATA-ONLY SHOW</a:t>
            </a:r>
            <a:endParaRPr lang="en-IN" sz="4000" dirty="0">
              <a:solidFill>
                <a:schemeClr val="accent1">
                  <a:lumMod val="50000"/>
                </a:schemeClr>
              </a:solidFill>
              <a:latin typeface="Arial Black" panose="020B0A04020102020204" pitchFamily="34" charset="0"/>
            </a:endParaRPr>
          </a:p>
        </p:txBody>
      </p:sp>
      <p:sp>
        <p:nvSpPr>
          <p:cNvPr id="3" name="Subtitle 2">
            <a:extLst>
              <a:ext uri="{FF2B5EF4-FFF2-40B4-BE49-F238E27FC236}">
                <a16:creationId xmlns:a16="http://schemas.microsoft.com/office/drawing/2014/main" id="{45D8E802-A98F-48B1-8E7E-EB33D89AFE01}"/>
              </a:ext>
            </a:extLst>
          </p:cNvPr>
          <p:cNvSpPr>
            <a:spLocks noGrp="1"/>
          </p:cNvSpPr>
          <p:nvPr>
            <p:ph type="subTitle" idx="1"/>
          </p:nvPr>
        </p:nvSpPr>
        <p:spPr>
          <a:xfrm>
            <a:off x="1524000" y="3602038"/>
            <a:ext cx="9144000" cy="2630596"/>
          </a:xfrm>
        </p:spPr>
        <p:txBody>
          <a:bodyPr>
            <a:normAutofit fontScale="92500" lnSpcReduction="20000"/>
          </a:bodyPr>
          <a:lstStyle/>
          <a:p>
            <a:endParaRPr lang="en-IN" sz="4000" dirty="0"/>
          </a:p>
          <a:p>
            <a:r>
              <a:rPr lang="en-IN" sz="4000" dirty="0"/>
              <a:t>A presentation for </a:t>
            </a:r>
            <a:r>
              <a:rPr lang="en-IN" sz="4000" dirty="0" err="1"/>
              <a:t>AtliQ</a:t>
            </a:r>
            <a:r>
              <a:rPr lang="en-IN" sz="4000" dirty="0"/>
              <a:t> Media </a:t>
            </a:r>
          </a:p>
          <a:p>
            <a:r>
              <a:rPr lang="en-IN" sz="4000" dirty="0" err="1"/>
              <a:t>Codebasics</a:t>
            </a:r>
            <a:r>
              <a:rPr lang="en-IN" sz="4000" dirty="0"/>
              <a:t> Resume Project Challenge</a:t>
            </a:r>
          </a:p>
          <a:p>
            <a:r>
              <a:rPr lang="en-IN" sz="3200" dirty="0"/>
              <a:t>Aditya Dixit</a:t>
            </a:r>
          </a:p>
          <a:p>
            <a:r>
              <a:rPr lang="en-IN" sz="3200" dirty="0"/>
              <a:t>20-05-2026</a:t>
            </a:r>
          </a:p>
        </p:txBody>
      </p:sp>
      <p:cxnSp>
        <p:nvCxnSpPr>
          <p:cNvPr id="5" name="Straight Connector 4">
            <a:extLst>
              <a:ext uri="{FF2B5EF4-FFF2-40B4-BE49-F238E27FC236}">
                <a16:creationId xmlns:a16="http://schemas.microsoft.com/office/drawing/2014/main" id="{0D05477E-86C3-4C5E-B7CE-87812139533D}"/>
              </a:ext>
            </a:extLst>
          </p:cNvPr>
          <p:cNvCxnSpPr>
            <a:cxnSpLocks/>
          </p:cNvCxnSpPr>
          <p:nvPr/>
        </p:nvCxnSpPr>
        <p:spPr>
          <a:xfrm>
            <a:off x="1524000" y="2620963"/>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3920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35975-0AA1-42CB-9F1A-37057400A324}"/>
              </a:ext>
            </a:extLst>
          </p:cNvPr>
          <p:cNvSpPr>
            <a:spLocks noGrp="1"/>
          </p:cNvSpPr>
          <p:nvPr>
            <p:ph type="title"/>
          </p:nvPr>
        </p:nvSpPr>
        <p:spPr>
          <a:xfrm>
            <a:off x="831851" y="480029"/>
            <a:ext cx="10515600" cy="1779696"/>
          </a:xfrm>
        </p:spPr>
        <p:txBody>
          <a:bodyPr>
            <a:noAutofit/>
          </a:bodyPr>
          <a:lstStyle/>
          <a:p>
            <a:pPr algn="ctr"/>
            <a:r>
              <a:rPr lang="en-IN" sz="3200" dirty="0">
                <a:solidFill>
                  <a:schemeClr val="accent1">
                    <a:lumMod val="50000"/>
                  </a:schemeClr>
                </a:solidFill>
                <a:latin typeface="Arial Black" panose="020B0A04020102020204" pitchFamily="34" charset="0"/>
              </a:rPr>
              <a:t>BREAKING DOWN A NEW PARTY’S PERFORMANCE IN TAMIL NADU 2026 STATE ELECTIONS</a:t>
            </a:r>
            <a:endParaRPr lang="en-IN" sz="3200" dirty="0"/>
          </a:p>
        </p:txBody>
      </p:sp>
      <p:sp>
        <p:nvSpPr>
          <p:cNvPr id="4" name="Text Placeholder 3">
            <a:extLst>
              <a:ext uri="{FF2B5EF4-FFF2-40B4-BE49-F238E27FC236}">
                <a16:creationId xmlns:a16="http://schemas.microsoft.com/office/drawing/2014/main" id="{D2FAA54E-338B-4920-92F8-39E3D3A040B2}"/>
              </a:ext>
            </a:extLst>
          </p:cNvPr>
          <p:cNvSpPr>
            <a:spLocks noGrp="1"/>
          </p:cNvSpPr>
          <p:nvPr>
            <p:ph type="body" idx="1"/>
          </p:nvPr>
        </p:nvSpPr>
        <p:spPr>
          <a:xfrm>
            <a:off x="831850" y="2421268"/>
            <a:ext cx="10515600" cy="4189740"/>
          </a:xfrm>
        </p:spPr>
        <p:txBody>
          <a:bodyPr>
            <a:normAutofit/>
          </a:bodyPr>
          <a:lstStyle/>
          <a:p>
            <a:pPr marL="571500" indent="-571500">
              <a:buFont typeface="Arial" panose="020B0604020202020204" pitchFamily="34" charset="0"/>
              <a:buChar char="•"/>
            </a:pPr>
            <a:r>
              <a:rPr lang="en-IN" sz="2800" dirty="0">
                <a:solidFill>
                  <a:schemeClr val="tx1"/>
                </a:solidFill>
              </a:rPr>
              <a:t>WHAT? – </a:t>
            </a:r>
            <a:r>
              <a:rPr lang="en-IN" dirty="0">
                <a:solidFill>
                  <a:schemeClr val="tx1"/>
                </a:solidFill>
              </a:rPr>
              <a:t>A two year old party gained the highest vote share and got the first place in most of the 234 total seats</a:t>
            </a:r>
          </a:p>
          <a:p>
            <a:endParaRPr lang="en-IN" sz="2800" dirty="0">
              <a:solidFill>
                <a:schemeClr val="tx1"/>
              </a:solidFill>
            </a:endParaRPr>
          </a:p>
          <a:p>
            <a:pPr marL="571500" indent="-571500">
              <a:buFont typeface="Arial" panose="020B0604020202020204" pitchFamily="34" charset="0"/>
              <a:buChar char="•"/>
            </a:pPr>
            <a:r>
              <a:rPr lang="en-IN" sz="2800" dirty="0">
                <a:solidFill>
                  <a:schemeClr val="tx1"/>
                </a:solidFill>
              </a:rPr>
              <a:t>WHY? – </a:t>
            </a:r>
            <a:r>
              <a:rPr lang="en-IN" dirty="0">
                <a:solidFill>
                  <a:schemeClr val="tx1"/>
                </a:solidFill>
              </a:rPr>
              <a:t>For the Nation’s democratic health, it is important to analyse the performance of a new party against the legacies</a:t>
            </a:r>
          </a:p>
          <a:p>
            <a:pPr marL="571500" indent="-571500">
              <a:buFont typeface="Arial" panose="020B0604020202020204" pitchFamily="34" charset="0"/>
              <a:buChar char="•"/>
            </a:pPr>
            <a:endParaRPr lang="en-IN" sz="2800" dirty="0">
              <a:solidFill>
                <a:schemeClr val="tx1"/>
              </a:solidFill>
            </a:endParaRPr>
          </a:p>
          <a:p>
            <a:pPr marL="571500" indent="-571500">
              <a:buFont typeface="Arial" panose="020B0604020202020204" pitchFamily="34" charset="0"/>
              <a:buChar char="•"/>
            </a:pPr>
            <a:r>
              <a:rPr lang="en-IN" sz="2800" dirty="0">
                <a:solidFill>
                  <a:schemeClr val="tx1"/>
                </a:solidFill>
              </a:rPr>
              <a:t>HOW? – </a:t>
            </a:r>
            <a:r>
              <a:rPr lang="en-IN" dirty="0">
                <a:solidFill>
                  <a:schemeClr val="tx1"/>
                </a:solidFill>
              </a:rPr>
              <a:t>We will dissect the results and associated data that was all declared by the Election Commission of India using the questions suggested by </a:t>
            </a:r>
            <a:r>
              <a:rPr lang="en-IN" dirty="0" err="1">
                <a:solidFill>
                  <a:schemeClr val="tx1"/>
                </a:solidFill>
              </a:rPr>
              <a:t>Codebasics</a:t>
            </a:r>
            <a:r>
              <a:rPr lang="en-IN" dirty="0">
                <a:solidFill>
                  <a:schemeClr val="tx1"/>
                </a:solidFill>
              </a:rPr>
              <a:t> dossier</a:t>
            </a:r>
            <a:endParaRPr lang="en-IN" sz="2800" dirty="0">
              <a:solidFill>
                <a:schemeClr val="tx1"/>
              </a:solidFill>
            </a:endParaRPr>
          </a:p>
        </p:txBody>
      </p:sp>
      <p:cxnSp>
        <p:nvCxnSpPr>
          <p:cNvPr id="5" name="Straight Connector 4">
            <a:extLst>
              <a:ext uri="{FF2B5EF4-FFF2-40B4-BE49-F238E27FC236}">
                <a16:creationId xmlns:a16="http://schemas.microsoft.com/office/drawing/2014/main" id="{369C38B1-F31C-4E60-815F-A1BBD1A2C3C2}"/>
              </a:ext>
            </a:extLst>
          </p:cNvPr>
          <p:cNvCxnSpPr>
            <a:cxnSpLocks/>
          </p:cNvCxnSpPr>
          <p:nvPr/>
        </p:nvCxnSpPr>
        <p:spPr>
          <a:xfrm>
            <a:off x="1524000" y="2421267"/>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92598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p:txBody>
          <a:bodyPr>
            <a:normAutofit/>
          </a:bodyPr>
          <a:lstStyle/>
          <a:p>
            <a:pPr algn="ctr"/>
            <a:r>
              <a:rPr lang="en-IN" sz="4000" dirty="0">
                <a:solidFill>
                  <a:schemeClr val="accent1">
                    <a:lumMod val="50000"/>
                  </a:schemeClr>
                </a:solidFill>
                <a:latin typeface="Arial Black" panose="020B0A04020102020204" pitchFamily="34" charset="0"/>
              </a:rPr>
              <a:t>EXPECTATIONS</a:t>
            </a:r>
          </a:p>
        </p:txBody>
      </p:sp>
      <p:sp>
        <p:nvSpPr>
          <p:cNvPr id="10" name="Content Placeholder 9">
            <a:extLst>
              <a:ext uri="{FF2B5EF4-FFF2-40B4-BE49-F238E27FC236}">
                <a16:creationId xmlns:a16="http://schemas.microsoft.com/office/drawing/2014/main" id="{94FDA3AD-9147-4D27-979C-96E914642219}"/>
              </a:ext>
            </a:extLst>
          </p:cNvPr>
          <p:cNvSpPr>
            <a:spLocks noGrp="1"/>
          </p:cNvSpPr>
          <p:nvPr>
            <p:ph idx="1"/>
          </p:nvPr>
        </p:nvSpPr>
        <p:spPr/>
        <p:txBody>
          <a:bodyPr>
            <a:normAutofit/>
          </a:bodyPr>
          <a:lstStyle/>
          <a:p>
            <a:r>
              <a:rPr lang="en-IN" sz="2400" b="1" dirty="0"/>
              <a:t>Breakdown of 3 Questions from </a:t>
            </a:r>
            <a:r>
              <a:rPr lang="en-IN" sz="2400" b="1" dirty="0" err="1"/>
              <a:t>Codebasics</a:t>
            </a:r>
            <a:r>
              <a:rPr lang="en-IN" sz="2400" b="1" dirty="0"/>
              <a:t> dossier</a:t>
            </a:r>
          </a:p>
          <a:p>
            <a:pPr marL="0" indent="0">
              <a:buNone/>
            </a:pPr>
            <a:endParaRPr lang="en-IN" sz="2400" b="1" dirty="0"/>
          </a:p>
          <a:p>
            <a:r>
              <a:rPr lang="en-IN" sz="2400" b="1" dirty="0"/>
              <a:t>A top-down approach of scale to dissect the numbers in each Question</a:t>
            </a:r>
          </a:p>
          <a:p>
            <a:endParaRPr lang="en-IN" sz="2400" b="1" dirty="0"/>
          </a:p>
          <a:p>
            <a:r>
              <a:rPr lang="en-IN" sz="2400" b="1" dirty="0"/>
              <a:t>A game with numbers – no speculation, no reasons for the data itself and no predictions for the next election cycle.</a:t>
            </a:r>
          </a:p>
          <a:p>
            <a:endParaRPr lang="en-IN" sz="2400" b="1" dirty="0"/>
          </a:p>
          <a:p>
            <a:r>
              <a:rPr lang="en-IN" sz="2400" b="1" dirty="0"/>
              <a:t>The base data will be sourced from the </a:t>
            </a:r>
            <a:r>
              <a:rPr lang="en-IN" sz="2400" b="1" dirty="0" err="1"/>
              <a:t>Codebasics</a:t>
            </a:r>
            <a:r>
              <a:rPr lang="en-IN" sz="2400" b="1" dirty="0"/>
              <a:t> provided data set and Election Commission of India.</a:t>
            </a:r>
          </a:p>
        </p:txBody>
      </p:sp>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24000" y="1726106"/>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849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p:txBody>
          <a:bodyPr>
            <a:normAutofit/>
          </a:bodyPr>
          <a:lstStyle/>
          <a:p>
            <a:pPr algn="ctr"/>
            <a:r>
              <a:rPr lang="en-IN" sz="4000" dirty="0">
                <a:solidFill>
                  <a:schemeClr val="accent1">
                    <a:lumMod val="50000"/>
                  </a:schemeClr>
                </a:solidFill>
                <a:latin typeface="Arial Black" panose="020B0A04020102020204" pitchFamily="34" charset="0"/>
              </a:rPr>
              <a:t>THREE QUESTIONS</a:t>
            </a:r>
            <a:br>
              <a:rPr lang="en-IN" sz="4000" dirty="0">
                <a:solidFill>
                  <a:schemeClr val="accent1">
                    <a:lumMod val="50000"/>
                  </a:schemeClr>
                </a:solidFill>
                <a:latin typeface="Arial Black" panose="020B0A04020102020204" pitchFamily="34" charset="0"/>
              </a:rPr>
            </a:br>
            <a:r>
              <a:rPr lang="en-IN" sz="4000" dirty="0">
                <a:solidFill>
                  <a:schemeClr val="accent1">
                    <a:lumMod val="50000"/>
                  </a:schemeClr>
                </a:solidFill>
                <a:latin typeface="Arial Black" panose="020B0A04020102020204" pitchFamily="34" charset="0"/>
              </a:rPr>
              <a:t>ONE STORY</a:t>
            </a:r>
          </a:p>
        </p:txBody>
      </p:sp>
      <p:sp>
        <p:nvSpPr>
          <p:cNvPr id="10" name="Content Placeholder 9">
            <a:extLst>
              <a:ext uri="{FF2B5EF4-FFF2-40B4-BE49-F238E27FC236}">
                <a16:creationId xmlns:a16="http://schemas.microsoft.com/office/drawing/2014/main" id="{94FDA3AD-9147-4D27-979C-96E914642219}"/>
              </a:ext>
            </a:extLst>
          </p:cNvPr>
          <p:cNvSpPr>
            <a:spLocks noGrp="1"/>
          </p:cNvSpPr>
          <p:nvPr>
            <p:ph idx="1"/>
          </p:nvPr>
        </p:nvSpPr>
        <p:spPr/>
        <p:txBody>
          <a:bodyPr>
            <a:normAutofit/>
          </a:bodyPr>
          <a:lstStyle/>
          <a:p>
            <a:r>
              <a:rPr lang="en-IN" sz="2400" b="1" dirty="0"/>
              <a:t>The vote share story – As compared to the 2021, how the 2026 vote share in the state changed? Who gained the most votes? Who lost them? Which Constituency </a:t>
            </a:r>
          </a:p>
          <a:p>
            <a:pPr marL="0" indent="0">
              <a:buNone/>
            </a:pPr>
            <a:endParaRPr lang="en-IN" sz="2400" b="1" dirty="0"/>
          </a:p>
          <a:p>
            <a:r>
              <a:rPr lang="en-IN" sz="2400" b="1" dirty="0"/>
              <a:t>The flip game – Which constituency chose a different party in 2026 vs. 2021? Which constituency retained the party? What do the numbers say? How does it look when plotted on a Sankey Chart?</a:t>
            </a:r>
          </a:p>
          <a:p>
            <a:endParaRPr lang="en-IN" sz="2400" b="1" dirty="0"/>
          </a:p>
          <a:p>
            <a:r>
              <a:rPr lang="en-IN" sz="2400" b="1" dirty="0"/>
              <a:t>The margin of victory story – How does the average margin of victory changed from 2021 to 2026? How many victories in 2026 election were a close calls, a strong one or a dominant one? </a:t>
            </a:r>
          </a:p>
        </p:txBody>
      </p:sp>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24000" y="1726106"/>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56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p:txBody>
          <a:bodyPr>
            <a:normAutofit/>
          </a:bodyPr>
          <a:lstStyle/>
          <a:p>
            <a:pPr algn="ctr"/>
            <a:r>
              <a:rPr lang="en-IN" sz="4000" dirty="0">
                <a:solidFill>
                  <a:schemeClr val="accent1">
                    <a:lumMod val="50000"/>
                  </a:schemeClr>
                </a:solidFill>
                <a:latin typeface="Arial Black" panose="020B0A04020102020204" pitchFamily="34" charset="0"/>
              </a:rPr>
              <a:t>SOME BASE NUMBERS</a:t>
            </a:r>
          </a:p>
        </p:txBody>
      </p:sp>
      <p:sp>
        <p:nvSpPr>
          <p:cNvPr id="3" name="Text Placeholder 2">
            <a:extLst>
              <a:ext uri="{FF2B5EF4-FFF2-40B4-BE49-F238E27FC236}">
                <a16:creationId xmlns:a16="http://schemas.microsoft.com/office/drawing/2014/main" id="{4E062ED7-CF19-4EA2-B2BF-BD3388AEA780}"/>
              </a:ext>
            </a:extLst>
          </p:cNvPr>
          <p:cNvSpPr>
            <a:spLocks noGrp="1"/>
          </p:cNvSpPr>
          <p:nvPr>
            <p:ph type="body" idx="1"/>
          </p:nvPr>
        </p:nvSpPr>
        <p:spPr>
          <a:xfrm>
            <a:off x="1011237" y="1316532"/>
            <a:ext cx="5157787" cy="823912"/>
          </a:xfrm>
        </p:spPr>
        <p:txBody>
          <a:bodyPr anchor="ctr"/>
          <a:lstStyle/>
          <a:p>
            <a:pPr algn="ctr"/>
            <a:r>
              <a:rPr lang="en-IN" dirty="0"/>
              <a:t>2021</a:t>
            </a:r>
          </a:p>
        </p:txBody>
      </p:sp>
      <p:sp>
        <p:nvSpPr>
          <p:cNvPr id="4" name="Content Placeholder 3">
            <a:extLst>
              <a:ext uri="{FF2B5EF4-FFF2-40B4-BE49-F238E27FC236}">
                <a16:creationId xmlns:a16="http://schemas.microsoft.com/office/drawing/2014/main" id="{252F881E-AFB0-47B0-BC02-3199463E5688}"/>
              </a:ext>
            </a:extLst>
          </p:cNvPr>
          <p:cNvSpPr>
            <a:spLocks noGrp="1"/>
          </p:cNvSpPr>
          <p:nvPr>
            <p:ph sz="half" idx="2"/>
          </p:nvPr>
        </p:nvSpPr>
        <p:spPr>
          <a:xfrm>
            <a:off x="938213" y="2474366"/>
            <a:ext cx="5157787" cy="2644173"/>
          </a:xfrm>
        </p:spPr>
        <p:txBody>
          <a:bodyPr>
            <a:normAutofit lnSpcReduction="10000"/>
          </a:bodyPr>
          <a:lstStyle/>
          <a:p>
            <a:pPr marL="0" indent="0" algn="ctr">
              <a:buNone/>
            </a:pPr>
            <a:r>
              <a:rPr lang="en-IN" sz="2400" dirty="0"/>
              <a:t>234 Constituencies</a:t>
            </a:r>
          </a:p>
          <a:p>
            <a:pPr marL="0" indent="0" algn="ctr">
              <a:buNone/>
            </a:pPr>
            <a:r>
              <a:rPr lang="en-IN" sz="2400" dirty="0"/>
              <a:t>3859 Candidates</a:t>
            </a:r>
          </a:p>
          <a:p>
            <a:pPr marL="0" indent="0" algn="ctr">
              <a:buNone/>
            </a:pPr>
            <a:r>
              <a:rPr lang="en-IN" sz="2400" dirty="0"/>
              <a:t>109 Parties</a:t>
            </a:r>
          </a:p>
          <a:p>
            <a:pPr marL="0" indent="0" algn="ctr">
              <a:buNone/>
            </a:pPr>
            <a:r>
              <a:rPr lang="en-IN" sz="2400" dirty="0"/>
              <a:t>Registered Voters +62M</a:t>
            </a:r>
          </a:p>
          <a:p>
            <a:pPr marL="0" indent="0" algn="ctr">
              <a:buNone/>
            </a:pPr>
            <a:r>
              <a:rPr lang="en-IN" sz="2400" dirty="0"/>
              <a:t>Voter turnout 72.73%</a:t>
            </a:r>
          </a:p>
          <a:p>
            <a:pPr marL="0" indent="0" algn="ctr">
              <a:buNone/>
            </a:pPr>
            <a:r>
              <a:rPr lang="en-IN" sz="2400" dirty="0"/>
              <a:t>Votes Casted +46M</a:t>
            </a:r>
          </a:p>
          <a:p>
            <a:pPr marL="0" indent="0" algn="ctr">
              <a:buNone/>
            </a:pPr>
            <a:endParaRPr lang="en-IN" dirty="0"/>
          </a:p>
          <a:p>
            <a:pPr marL="0" indent="0">
              <a:buNone/>
            </a:pPr>
            <a:endParaRPr lang="en-IN" dirty="0"/>
          </a:p>
          <a:p>
            <a:endParaRPr lang="en-IN" dirty="0"/>
          </a:p>
        </p:txBody>
      </p:sp>
      <p:sp>
        <p:nvSpPr>
          <p:cNvPr id="5" name="Text Placeholder 4">
            <a:extLst>
              <a:ext uri="{FF2B5EF4-FFF2-40B4-BE49-F238E27FC236}">
                <a16:creationId xmlns:a16="http://schemas.microsoft.com/office/drawing/2014/main" id="{0041A6A8-9F4A-450C-BE2E-F0A0ED8EAE76}"/>
              </a:ext>
            </a:extLst>
          </p:cNvPr>
          <p:cNvSpPr>
            <a:spLocks noGrp="1"/>
          </p:cNvSpPr>
          <p:nvPr>
            <p:ph type="body" sz="quarter" idx="3"/>
          </p:nvPr>
        </p:nvSpPr>
        <p:spPr>
          <a:xfrm>
            <a:off x="6096000" y="1305692"/>
            <a:ext cx="5183188" cy="823912"/>
          </a:xfrm>
        </p:spPr>
        <p:txBody>
          <a:bodyPr anchor="ctr"/>
          <a:lstStyle/>
          <a:p>
            <a:pPr algn="ctr"/>
            <a:r>
              <a:rPr lang="en-IN" dirty="0"/>
              <a:t>2026</a:t>
            </a:r>
          </a:p>
        </p:txBody>
      </p:sp>
      <p:sp>
        <p:nvSpPr>
          <p:cNvPr id="6" name="Content Placeholder 5">
            <a:extLst>
              <a:ext uri="{FF2B5EF4-FFF2-40B4-BE49-F238E27FC236}">
                <a16:creationId xmlns:a16="http://schemas.microsoft.com/office/drawing/2014/main" id="{494C720E-AFDF-465D-9893-32B90BA4955B}"/>
              </a:ext>
            </a:extLst>
          </p:cNvPr>
          <p:cNvSpPr>
            <a:spLocks noGrp="1"/>
          </p:cNvSpPr>
          <p:nvPr>
            <p:ph sz="quarter" idx="4"/>
          </p:nvPr>
        </p:nvSpPr>
        <p:spPr>
          <a:xfrm>
            <a:off x="6096000" y="2474365"/>
            <a:ext cx="5183188" cy="2644173"/>
          </a:xfrm>
        </p:spPr>
        <p:txBody>
          <a:bodyPr>
            <a:normAutofit lnSpcReduction="10000"/>
          </a:bodyPr>
          <a:lstStyle/>
          <a:p>
            <a:pPr marL="0" indent="0" algn="ctr">
              <a:buNone/>
            </a:pPr>
            <a:r>
              <a:rPr lang="en-IN" sz="2400" dirty="0"/>
              <a:t>234 Constituencies</a:t>
            </a:r>
          </a:p>
          <a:p>
            <a:pPr marL="0" indent="0" algn="ctr">
              <a:buNone/>
            </a:pPr>
            <a:r>
              <a:rPr lang="en-IN" sz="2400" dirty="0"/>
              <a:t>3992 Candidates</a:t>
            </a:r>
          </a:p>
          <a:p>
            <a:pPr marL="0" indent="0" algn="ctr">
              <a:buNone/>
            </a:pPr>
            <a:r>
              <a:rPr lang="en-IN" sz="2400" dirty="0"/>
              <a:t>105 Parties</a:t>
            </a:r>
          </a:p>
          <a:p>
            <a:pPr marL="0" indent="0" algn="ctr">
              <a:buNone/>
            </a:pPr>
            <a:r>
              <a:rPr lang="en-IN" sz="2400" dirty="0"/>
              <a:t>Registered Voters +57M</a:t>
            </a:r>
          </a:p>
          <a:p>
            <a:pPr marL="0" indent="0" algn="ctr">
              <a:buNone/>
            </a:pPr>
            <a:r>
              <a:rPr lang="en-IN" sz="2400" dirty="0"/>
              <a:t>Voter turnout 85.14%</a:t>
            </a:r>
          </a:p>
          <a:p>
            <a:pPr marL="0" indent="0" algn="ctr">
              <a:buNone/>
            </a:pPr>
            <a:r>
              <a:rPr lang="en-IN" sz="2400" dirty="0"/>
              <a:t>Votes Casted +49M</a:t>
            </a:r>
          </a:p>
        </p:txBody>
      </p:sp>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24000" y="1305692"/>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46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p:txBody>
          <a:bodyPr>
            <a:normAutofit/>
          </a:bodyPr>
          <a:lstStyle/>
          <a:p>
            <a:pPr algn="ctr"/>
            <a:r>
              <a:rPr lang="en-IN" sz="4000" dirty="0">
                <a:solidFill>
                  <a:schemeClr val="accent1">
                    <a:lumMod val="50000"/>
                  </a:schemeClr>
                </a:solidFill>
                <a:latin typeface="Arial Black" panose="020B0A04020102020204" pitchFamily="34" charset="0"/>
              </a:rPr>
              <a:t>THE VOTE SHARE STORY</a:t>
            </a:r>
          </a:p>
        </p:txBody>
      </p:sp>
      <p:sp>
        <p:nvSpPr>
          <p:cNvPr id="2" name="Text Placeholder 1">
            <a:extLst>
              <a:ext uri="{FF2B5EF4-FFF2-40B4-BE49-F238E27FC236}">
                <a16:creationId xmlns:a16="http://schemas.microsoft.com/office/drawing/2014/main" id="{8F379E7E-CA3D-4375-B7F6-E7F68A3CDB47}"/>
              </a:ext>
            </a:extLst>
          </p:cNvPr>
          <p:cNvSpPr>
            <a:spLocks noGrp="1"/>
          </p:cNvSpPr>
          <p:nvPr>
            <p:ph type="body" idx="1"/>
          </p:nvPr>
        </p:nvSpPr>
        <p:spPr>
          <a:xfrm>
            <a:off x="839788" y="1681163"/>
            <a:ext cx="5157787" cy="823912"/>
          </a:xfrm>
        </p:spPr>
        <p:txBody>
          <a:bodyPr anchor="ctr"/>
          <a:lstStyle/>
          <a:p>
            <a:pPr algn="ctr"/>
            <a:r>
              <a:rPr lang="en-IN" dirty="0"/>
              <a:t>2021</a:t>
            </a:r>
          </a:p>
        </p:txBody>
      </p:sp>
      <p:sp>
        <p:nvSpPr>
          <p:cNvPr id="3" name="Text Placeholder 2">
            <a:extLst>
              <a:ext uri="{FF2B5EF4-FFF2-40B4-BE49-F238E27FC236}">
                <a16:creationId xmlns:a16="http://schemas.microsoft.com/office/drawing/2014/main" id="{9C3CA7E0-688E-4DF3-B28F-788FE1AEA740}"/>
              </a:ext>
            </a:extLst>
          </p:cNvPr>
          <p:cNvSpPr>
            <a:spLocks noGrp="1"/>
          </p:cNvSpPr>
          <p:nvPr>
            <p:ph type="body" sz="quarter" idx="3"/>
          </p:nvPr>
        </p:nvSpPr>
        <p:spPr/>
        <p:txBody>
          <a:bodyPr anchor="ctr"/>
          <a:lstStyle/>
          <a:p>
            <a:pPr algn="ctr"/>
            <a:r>
              <a:rPr lang="en-IN" dirty="0"/>
              <a:t>2026</a:t>
            </a:r>
          </a:p>
        </p:txBody>
      </p:sp>
      <p:graphicFrame>
        <p:nvGraphicFramePr>
          <p:cNvPr id="11" name="Content Placeholder 10">
            <a:extLst>
              <a:ext uri="{FF2B5EF4-FFF2-40B4-BE49-F238E27FC236}">
                <a16:creationId xmlns:a16="http://schemas.microsoft.com/office/drawing/2014/main" id="{C6C891DB-DF9D-48A3-8389-C78C974B14FF}"/>
              </a:ext>
            </a:extLst>
          </p:cNvPr>
          <p:cNvGraphicFramePr>
            <a:graphicFrameLocks noGrp="1"/>
          </p:cNvGraphicFramePr>
          <p:nvPr>
            <p:ph sz="quarter" idx="4"/>
            <p:extLst>
              <p:ext uri="{D42A27DB-BD31-4B8C-83A1-F6EECF244321}">
                <p14:modId xmlns:p14="http://schemas.microsoft.com/office/powerpoint/2010/main" val="2263057526"/>
              </p:ext>
            </p:extLst>
          </p:nvPr>
        </p:nvGraphicFramePr>
        <p:xfrm>
          <a:off x="901700" y="2242317"/>
          <a:ext cx="5183188" cy="3684588"/>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24000" y="1389775"/>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1F05889-3808-432C-8095-7551001CEA97}"/>
              </a:ext>
            </a:extLst>
          </p:cNvPr>
          <p:cNvCxnSpPr>
            <a:cxnSpLocks/>
          </p:cNvCxnSpPr>
          <p:nvPr/>
        </p:nvCxnSpPr>
        <p:spPr>
          <a:xfrm flipV="1">
            <a:off x="6172198" y="1571124"/>
            <a:ext cx="0" cy="4599918"/>
          </a:xfrm>
          <a:prstGeom prst="line">
            <a:avLst/>
          </a:prstGeom>
        </p:spPr>
        <p:style>
          <a:lnRef idx="1">
            <a:schemeClr val="dk1"/>
          </a:lnRef>
          <a:fillRef idx="0">
            <a:schemeClr val="dk1"/>
          </a:fillRef>
          <a:effectRef idx="0">
            <a:schemeClr val="dk1"/>
          </a:effectRef>
          <a:fontRef idx="minor">
            <a:schemeClr val="tx1"/>
          </a:fontRef>
        </p:style>
      </p:cxnSp>
      <p:graphicFrame>
        <p:nvGraphicFramePr>
          <p:cNvPr id="20" name="Content Placeholder 10">
            <a:extLst>
              <a:ext uri="{FF2B5EF4-FFF2-40B4-BE49-F238E27FC236}">
                <a16:creationId xmlns:a16="http://schemas.microsoft.com/office/drawing/2014/main" id="{40D1F9B8-E846-49B3-ACEE-E34A909888F3}"/>
              </a:ext>
            </a:extLst>
          </p:cNvPr>
          <p:cNvGraphicFramePr>
            <a:graphicFrameLocks/>
          </p:cNvGraphicFramePr>
          <p:nvPr>
            <p:extLst>
              <p:ext uri="{D42A27DB-BD31-4B8C-83A1-F6EECF244321}">
                <p14:modId xmlns:p14="http://schemas.microsoft.com/office/powerpoint/2010/main" val="1371743922"/>
              </p:ext>
            </p:extLst>
          </p:nvPr>
        </p:nvGraphicFramePr>
        <p:xfrm>
          <a:off x="6346825" y="2242317"/>
          <a:ext cx="5183188" cy="3684588"/>
        </p:xfrm>
        <a:graphic>
          <a:graphicData uri="http://schemas.openxmlformats.org/drawingml/2006/chart">
            <c:chart xmlns:c="http://schemas.openxmlformats.org/drawingml/2006/chart" xmlns:r="http://schemas.openxmlformats.org/officeDocument/2006/relationships" r:id="rId3"/>
          </a:graphicData>
        </a:graphic>
      </p:graphicFrame>
      <p:sp>
        <p:nvSpPr>
          <p:cNvPr id="21" name="TextBox 20">
            <a:extLst>
              <a:ext uri="{FF2B5EF4-FFF2-40B4-BE49-F238E27FC236}">
                <a16:creationId xmlns:a16="http://schemas.microsoft.com/office/drawing/2014/main" id="{60C222C9-8063-404E-8E01-852E8D35B534}"/>
              </a:ext>
            </a:extLst>
          </p:cNvPr>
          <p:cNvSpPr txBox="1"/>
          <p:nvPr/>
        </p:nvSpPr>
        <p:spPr>
          <a:xfrm>
            <a:off x="839788" y="5801710"/>
            <a:ext cx="5332410" cy="369332"/>
          </a:xfrm>
          <a:prstGeom prst="rect">
            <a:avLst/>
          </a:prstGeom>
          <a:noFill/>
        </p:spPr>
        <p:txBody>
          <a:bodyPr wrap="square" rtlCol="0">
            <a:spAutoFit/>
          </a:bodyPr>
          <a:lstStyle/>
          <a:p>
            <a:pPr algn="ctr"/>
            <a:r>
              <a:rPr lang="en-IN" dirty="0"/>
              <a:t>Top 10 Parties captured +94% votes on State level</a:t>
            </a:r>
          </a:p>
        </p:txBody>
      </p:sp>
      <p:sp>
        <p:nvSpPr>
          <p:cNvPr id="22" name="TextBox 21">
            <a:extLst>
              <a:ext uri="{FF2B5EF4-FFF2-40B4-BE49-F238E27FC236}">
                <a16:creationId xmlns:a16="http://schemas.microsoft.com/office/drawing/2014/main" id="{6A3C9132-AE87-43E6-92D3-FD5F1AD023FF}"/>
              </a:ext>
            </a:extLst>
          </p:cNvPr>
          <p:cNvSpPr txBox="1"/>
          <p:nvPr/>
        </p:nvSpPr>
        <p:spPr>
          <a:xfrm>
            <a:off x="6346821" y="5801710"/>
            <a:ext cx="5332410" cy="369332"/>
          </a:xfrm>
          <a:prstGeom prst="rect">
            <a:avLst/>
          </a:prstGeom>
          <a:noFill/>
        </p:spPr>
        <p:txBody>
          <a:bodyPr wrap="square" rtlCol="0">
            <a:spAutoFit/>
          </a:bodyPr>
          <a:lstStyle/>
          <a:p>
            <a:pPr algn="ctr"/>
            <a:r>
              <a:rPr lang="en-IN" dirty="0"/>
              <a:t>Top 10 Parties captured +96% votes on State level</a:t>
            </a:r>
          </a:p>
        </p:txBody>
      </p:sp>
    </p:spTree>
    <p:extLst>
      <p:ext uri="{BB962C8B-B14F-4D97-AF65-F5344CB8AC3E}">
        <p14:creationId xmlns:p14="http://schemas.microsoft.com/office/powerpoint/2010/main" val="23735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p:txBody>
          <a:bodyPr>
            <a:normAutofit/>
          </a:bodyPr>
          <a:lstStyle/>
          <a:p>
            <a:pPr algn="ctr"/>
            <a:r>
              <a:rPr lang="en-IN" sz="4000" dirty="0">
                <a:solidFill>
                  <a:schemeClr val="accent1">
                    <a:lumMod val="50000"/>
                  </a:schemeClr>
                </a:solidFill>
                <a:latin typeface="Arial Black" panose="020B0A04020102020204" pitchFamily="34" charset="0"/>
              </a:rPr>
              <a:t>THE VOTE SHARE STORY</a:t>
            </a:r>
          </a:p>
        </p:txBody>
      </p:sp>
      <p:sp>
        <p:nvSpPr>
          <p:cNvPr id="2" name="Text Placeholder 1">
            <a:extLst>
              <a:ext uri="{FF2B5EF4-FFF2-40B4-BE49-F238E27FC236}">
                <a16:creationId xmlns:a16="http://schemas.microsoft.com/office/drawing/2014/main" id="{8F379E7E-CA3D-4375-B7F6-E7F68A3CDB47}"/>
              </a:ext>
            </a:extLst>
          </p:cNvPr>
          <p:cNvSpPr>
            <a:spLocks noGrp="1"/>
          </p:cNvSpPr>
          <p:nvPr>
            <p:ph type="body" idx="1"/>
          </p:nvPr>
        </p:nvSpPr>
        <p:spPr>
          <a:xfrm>
            <a:off x="839788" y="1681163"/>
            <a:ext cx="5157787" cy="823912"/>
          </a:xfrm>
        </p:spPr>
        <p:txBody>
          <a:bodyPr anchor="ctr"/>
          <a:lstStyle/>
          <a:p>
            <a:pPr algn="ctr"/>
            <a:r>
              <a:rPr lang="en-IN" dirty="0"/>
              <a:t>2021</a:t>
            </a:r>
          </a:p>
        </p:txBody>
      </p:sp>
      <p:sp>
        <p:nvSpPr>
          <p:cNvPr id="3" name="Text Placeholder 2">
            <a:extLst>
              <a:ext uri="{FF2B5EF4-FFF2-40B4-BE49-F238E27FC236}">
                <a16:creationId xmlns:a16="http://schemas.microsoft.com/office/drawing/2014/main" id="{9C3CA7E0-688E-4DF3-B28F-788FE1AEA740}"/>
              </a:ext>
            </a:extLst>
          </p:cNvPr>
          <p:cNvSpPr>
            <a:spLocks noGrp="1"/>
          </p:cNvSpPr>
          <p:nvPr>
            <p:ph type="body" sz="quarter" idx="3"/>
          </p:nvPr>
        </p:nvSpPr>
        <p:spPr/>
        <p:txBody>
          <a:bodyPr anchor="ctr"/>
          <a:lstStyle/>
          <a:p>
            <a:pPr algn="ctr"/>
            <a:r>
              <a:rPr lang="en-IN" dirty="0"/>
              <a:t>2026</a:t>
            </a:r>
          </a:p>
        </p:txBody>
      </p:sp>
      <p:graphicFrame>
        <p:nvGraphicFramePr>
          <p:cNvPr id="11" name="Content Placeholder 10">
            <a:extLst>
              <a:ext uri="{FF2B5EF4-FFF2-40B4-BE49-F238E27FC236}">
                <a16:creationId xmlns:a16="http://schemas.microsoft.com/office/drawing/2014/main" id="{C6C891DB-DF9D-48A3-8389-C78C974B14FF}"/>
              </a:ext>
            </a:extLst>
          </p:cNvPr>
          <p:cNvGraphicFramePr>
            <a:graphicFrameLocks noGrp="1"/>
          </p:cNvGraphicFramePr>
          <p:nvPr>
            <p:ph sz="quarter" idx="4"/>
            <p:extLst>
              <p:ext uri="{D42A27DB-BD31-4B8C-83A1-F6EECF244321}">
                <p14:modId xmlns:p14="http://schemas.microsoft.com/office/powerpoint/2010/main" val="3051460189"/>
              </p:ext>
            </p:extLst>
          </p:nvPr>
        </p:nvGraphicFramePr>
        <p:xfrm>
          <a:off x="901698" y="2242317"/>
          <a:ext cx="5183188" cy="3684588"/>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24000" y="1389775"/>
            <a:ext cx="9144000"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F1F05889-3808-432C-8095-7551001CEA97}"/>
              </a:ext>
            </a:extLst>
          </p:cNvPr>
          <p:cNvCxnSpPr>
            <a:cxnSpLocks/>
          </p:cNvCxnSpPr>
          <p:nvPr/>
        </p:nvCxnSpPr>
        <p:spPr>
          <a:xfrm flipV="1">
            <a:off x="6172198" y="1571124"/>
            <a:ext cx="0" cy="4599918"/>
          </a:xfrm>
          <a:prstGeom prst="line">
            <a:avLst/>
          </a:prstGeom>
        </p:spPr>
        <p:style>
          <a:lnRef idx="1">
            <a:schemeClr val="dk1"/>
          </a:lnRef>
          <a:fillRef idx="0">
            <a:schemeClr val="dk1"/>
          </a:fillRef>
          <a:effectRef idx="0">
            <a:schemeClr val="dk1"/>
          </a:effectRef>
          <a:fontRef idx="minor">
            <a:schemeClr val="tx1"/>
          </a:fontRef>
        </p:style>
      </p:cxnSp>
      <p:graphicFrame>
        <p:nvGraphicFramePr>
          <p:cNvPr id="13" name="Content Placeholder 10">
            <a:extLst>
              <a:ext uri="{FF2B5EF4-FFF2-40B4-BE49-F238E27FC236}">
                <a16:creationId xmlns:a16="http://schemas.microsoft.com/office/drawing/2014/main" id="{9AD00EEE-6598-4F8F-90B2-81C1A9E77FEB}"/>
              </a:ext>
            </a:extLst>
          </p:cNvPr>
          <p:cNvGraphicFramePr>
            <a:graphicFrameLocks/>
          </p:cNvGraphicFramePr>
          <p:nvPr>
            <p:extLst>
              <p:ext uri="{D42A27DB-BD31-4B8C-83A1-F6EECF244321}">
                <p14:modId xmlns:p14="http://schemas.microsoft.com/office/powerpoint/2010/main" val="2555862808"/>
              </p:ext>
            </p:extLst>
          </p:nvPr>
        </p:nvGraphicFramePr>
        <p:xfrm>
          <a:off x="6346822" y="2242317"/>
          <a:ext cx="5183188" cy="368458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00875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C16E1A9-2648-4677-8DD7-F555682BF5BB}"/>
              </a:ext>
            </a:extLst>
          </p:cNvPr>
          <p:cNvSpPr>
            <a:spLocks noGrp="1"/>
          </p:cNvSpPr>
          <p:nvPr>
            <p:ph type="title"/>
          </p:nvPr>
        </p:nvSpPr>
        <p:spPr>
          <a:xfrm>
            <a:off x="914398" y="-257485"/>
            <a:ext cx="10515600" cy="1325563"/>
          </a:xfrm>
        </p:spPr>
        <p:txBody>
          <a:bodyPr>
            <a:normAutofit/>
          </a:bodyPr>
          <a:lstStyle/>
          <a:p>
            <a:pPr algn="ctr"/>
            <a:r>
              <a:rPr lang="en-IN" sz="4000" dirty="0">
                <a:solidFill>
                  <a:schemeClr val="accent1">
                    <a:lumMod val="50000"/>
                  </a:schemeClr>
                </a:solidFill>
                <a:latin typeface="Arial Black" panose="020B0A04020102020204" pitchFamily="34" charset="0"/>
              </a:rPr>
              <a:t>THE VOTE SHARE STORY</a:t>
            </a:r>
          </a:p>
        </p:txBody>
      </p:sp>
      <p:cxnSp>
        <p:nvCxnSpPr>
          <p:cNvPr id="12" name="Straight Connector 11">
            <a:extLst>
              <a:ext uri="{FF2B5EF4-FFF2-40B4-BE49-F238E27FC236}">
                <a16:creationId xmlns:a16="http://schemas.microsoft.com/office/drawing/2014/main" id="{01B3890B-7266-4617-8BA0-59398E420FB9}"/>
              </a:ext>
            </a:extLst>
          </p:cNvPr>
          <p:cNvCxnSpPr>
            <a:cxnSpLocks/>
          </p:cNvCxnSpPr>
          <p:nvPr/>
        </p:nvCxnSpPr>
        <p:spPr>
          <a:xfrm>
            <a:off x="1512888" y="675071"/>
            <a:ext cx="914400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10" name="Chart 9">
            <a:extLst>
              <a:ext uri="{FF2B5EF4-FFF2-40B4-BE49-F238E27FC236}">
                <a16:creationId xmlns:a16="http://schemas.microsoft.com/office/drawing/2014/main" id="{80966508-4E8B-4868-9CCD-5FC36DE441D3}"/>
              </a:ext>
            </a:extLst>
          </p:cNvPr>
          <p:cNvGraphicFramePr/>
          <p:nvPr>
            <p:extLst>
              <p:ext uri="{D42A27DB-BD31-4B8C-83A1-F6EECF244321}">
                <p14:modId xmlns:p14="http://schemas.microsoft.com/office/powerpoint/2010/main" val="483637853"/>
              </p:ext>
            </p:extLst>
          </p:nvPr>
        </p:nvGraphicFramePr>
        <p:xfrm>
          <a:off x="914398" y="675071"/>
          <a:ext cx="9936657" cy="561134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81177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200" y="-267193"/>
            <a:ext cx="10515600" cy="1325563"/>
          </a:xfrm>
        </p:spPr>
        <p:txBody>
          <a:bodyPr/>
          <a:lstStyle/>
          <a:p>
            <a:pPr algn="ctr"/>
            <a:r>
              <a:rPr lang="en-IN" dirty="0">
                <a:solidFill>
                  <a:schemeClr val="accent1">
                    <a:lumMod val="50000"/>
                  </a:schemeClr>
                </a:solidFill>
                <a:latin typeface="Arial Black" panose="020B0A04020102020204" pitchFamily="34" charset="0"/>
              </a:rPr>
              <a:t>THE FLIP GAME</a:t>
            </a:r>
            <a:endParaRPr lang="en-IN" dirty="0"/>
          </a:p>
        </p:txBody>
      </p:sp>
      <p:graphicFrame>
        <p:nvGraphicFramePr>
          <p:cNvPr id="16" name="Content Placeholder 15">
            <a:extLst>
              <a:ext uri="{FF2B5EF4-FFF2-40B4-BE49-F238E27FC236}">
                <a16:creationId xmlns:a16="http://schemas.microsoft.com/office/drawing/2014/main" id="{7C74C971-3765-47C0-A3B1-10B48BE70256}"/>
              </a:ext>
            </a:extLst>
          </p:cNvPr>
          <p:cNvGraphicFramePr>
            <a:graphicFrameLocks noGrp="1"/>
          </p:cNvGraphicFramePr>
          <p:nvPr>
            <p:ph idx="1"/>
            <p:extLst>
              <p:ext uri="{D42A27DB-BD31-4B8C-83A1-F6EECF244321}">
                <p14:modId xmlns:p14="http://schemas.microsoft.com/office/powerpoint/2010/main" val="193968715"/>
              </p:ext>
            </p:extLst>
          </p:nvPr>
        </p:nvGraphicFramePr>
        <p:xfrm>
          <a:off x="4937234" y="2638096"/>
          <a:ext cx="7254765" cy="405387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a:extLst>
              <a:ext uri="{FF2B5EF4-FFF2-40B4-BE49-F238E27FC236}">
                <a16:creationId xmlns:a16="http://schemas.microsoft.com/office/drawing/2014/main" id="{F0E60D1A-50B8-4671-A15F-79206BF0094B}"/>
              </a:ext>
            </a:extLst>
          </p:cNvPr>
          <p:cNvGraphicFramePr/>
          <p:nvPr>
            <p:extLst>
              <p:ext uri="{D42A27DB-BD31-4B8C-83A1-F6EECF244321}">
                <p14:modId xmlns:p14="http://schemas.microsoft.com/office/powerpoint/2010/main" val="871789971"/>
              </p:ext>
            </p:extLst>
          </p:nvPr>
        </p:nvGraphicFramePr>
        <p:xfrm>
          <a:off x="0" y="714702"/>
          <a:ext cx="12191999" cy="192339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3" name="Chart 22">
            <a:extLst>
              <a:ext uri="{FF2B5EF4-FFF2-40B4-BE49-F238E27FC236}">
                <a16:creationId xmlns:a16="http://schemas.microsoft.com/office/drawing/2014/main" id="{B1B41720-747F-46B7-9E7F-46D426516749}"/>
              </a:ext>
            </a:extLst>
          </p:cNvPr>
          <p:cNvGraphicFramePr/>
          <p:nvPr>
            <p:extLst>
              <p:ext uri="{D42A27DB-BD31-4B8C-83A1-F6EECF244321}">
                <p14:modId xmlns:p14="http://schemas.microsoft.com/office/powerpoint/2010/main" val="3426724918"/>
              </p:ext>
            </p:extLst>
          </p:nvPr>
        </p:nvGraphicFramePr>
        <p:xfrm>
          <a:off x="0" y="2638096"/>
          <a:ext cx="4937233" cy="405387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22513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199" y="0"/>
            <a:ext cx="10515600" cy="1325563"/>
          </a:xfrm>
        </p:spPr>
        <p:txBody>
          <a:bodyPr/>
          <a:lstStyle/>
          <a:p>
            <a:pPr algn="ctr"/>
            <a:r>
              <a:rPr lang="en-IN" dirty="0">
                <a:solidFill>
                  <a:schemeClr val="accent1">
                    <a:lumMod val="50000"/>
                  </a:schemeClr>
                </a:solidFill>
                <a:latin typeface="Arial Black" panose="020B0A04020102020204" pitchFamily="34" charset="0"/>
              </a:rPr>
              <a:t>THE FLIP GAME</a:t>
            </a:r>
            <a:endParaRPr lang="en-IN" dirty="0"/>
          </a:p>
        </p:txBody>
      </p:sp>
      <p:pic>
        <p:nvPicPr>
          <p:cNvPr id="10" name="Content Placeholder 9">
            <a:extLst>
              <a:ext uri="{FF2B5EF4-FFF2-40B4-BE49-F238E27FC236}">
                <a16:creationId xmlns:a16="http://schemas.microsoft.com/office/drawing/2014/main" id="{0030EDFA-47A7-4ABC-B49F-DFFB295C6E6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646" t="11833" r="3230" b="6666"/>
          <a:stretch/>
        </p:blipFill>
        <p:spPr>
          <a:xfrm>
            <a:off x="713822" y="1198178"/>
            <a:ext cx="10764353" cy="5659821"/>
          </a:xfrm>
        </p:spPr>
      </p:pic>
      <p:sp>
        <p:nvSpPr>
          <p:cNvPr id="11" name="TextBox 10">
            <a:extLst>
              <a:ext uri="{FF2B5EF4-FFF2-40B4-BE49-F238E27FC236}">
                <a16:creationId xmlns:a16="http://schemas.microsoft.com/office/drawing/2014/main" id="{F46106FF-448B-4AFC-A2AF-E137E0ABF74C}"/>
              </a:ext>
            </a:extLst>
          </p:cNvPr>
          <p:cNvSpPr txBox="1"/>
          <p:nvPr/>
        </p:nvSpPr>
        <p:spPr>
          <a:xfrm>
            <a:off x="2007475" y="989232"/>
            <a:ext cx="8177048" cy="369332"/>
          </a:xfrm>
          <a:prstGeom prst="rect">
            <a:avLst/>
          </a:prstGeom>
          <a:noFill/>
        </p:spPr>
        <p:txBody>
          <a:bodyPr wrap="square" rtlCol="0">
            <a:spAutoFit/>
          </a:bodyPr>
          <a:lstStyle/>
          <a:p>
            <a:pPr algn="ctr"/>
            <a:r>
              <a:rPr lang="en-IN" dirty="0"/>
              <a:t>Sankey Chart visualizing the Seat Flip from 2021 to 2026</a:t>
            </a:r>
          </a:p>
        </p:txBody>
      </p:sp>
    </p:spTree>
    <p:extLst>
      <p:ext uri="{BB962C8B-B14F-4D97-AF65-F5344CB8AC3E}">
        <p14:creationId xmlns:p14="http://schemas.microsoft.com/office/powerpoint/2010/main" val="37172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200" y="18255"/>
            <a:ext cx="10515600" cy="1325563"/>
          </a:xfrm>
        </p:spPr>
        <p:txBody>
          <a:bodyPr/>
          <a:lstStyle/>
          <a:p>
            <a:pPr algn="ctr"/>
            <a:r>
              <a:rPr lang="en-IN" dirty="0">
                <a:solidFill>
                  <a:schemeClr val="accent1">
                    <a:lumMod val="50000"/>
                  </a:schemeClr>
                </a:solidFill>
                <a:latin typeface="Arial Black" panose="020B0A04020102020204" pitchFamily="34" charset="0"/>
              </a:rPr>
              <a:t>THE MARGIN OF VICTORY STORY</a:t>
            </a:r>
            <a:endParaRPr lang="en-IN" dirty="0"/>
          </a:p>
        </p:txBody>
      </p:sp>
      <p:sp>
        <p:nvSpPr>
          <p:cNvPr id="5" name="TextBox 4">
            <a:extLst>
              <a:ext uri="{FF2B5EF4-FFF2-40B4-BE49-F238E27FC236}">
                <a16:creationId xmlns:a16="http://schemas.microsoft.com/office/drawing/2014/main" id="{900087CA-ABEE-4923-BDCD-7899ECB97AE7}"/>
              </a:ext>
            </a:extLst>
          </p:cNvPr>
          <p:cNvSpPr txBox="1"/>
          <p:nvPr/>
        </p:nvSpPr>
        <p:spPr>
          <a:xfrm>
            <a:off x="0" y="1061544"/>
            <a:ext cx="5129048" cy="5632311"/>
          </a:xfrm>
          <a:prstGeom prst="rect">
            <a:avLst/>
          </a:prstGeom>
          <a:noFill/>
        </p:spPr>
        <p:txBody>
          <a:bodyPr wrap="square" rtlCol="0">
            <a:spAutoFit/>
          </a:bodyPr>
          <a:lstStyle/>
          <a:p>
            <a:pPr algn="ctr"/>
            <a:r>
              <a:rPr lang="en-US" altLang="en-US" b="1" dirty="0">
                <a:latin typeface="Arial" panose="020B0604020202020204" pitchFamily="34" charset="0"/>
              </a:rPr>
              <a:t>Margin of Victory % = </a:t>
            </a:r>
          </a:p>
          <a:p>
            <a:pPr algn="ctr"/>
            <a:r>
              <a:rPr lang="en-US" altLang="en-US" b="1" u="sng" dirty="0">
                <a:latin typeface="Arial" panose="020B0604020202020204" pitchFamily="34" charset="0"/>
              </a:rPr>
              <a:t>100 × (Winner votes − Runner-up votes)</a:t>
            </a:r>
            <a:endParaRPr lang="en-US" altLang="en-US" b="1" dirty="0">
              <a:latin typeface="Arial" panose="020B0604020202020204" pitchFamily="34" charset="0"/>
            </a:endParaRPr>
          </a:p>
          <a:p>
            <a:pPr algn="ctr"/>
            <a:r>
              <a:rPr lang="en-US" altLang="en-US" b="1" dirty="0">
                <a:latin typeface="Arial" panose="020B0604020202020204" pitchFamily="34" charset="0"/>
              </a:rPr>
              <a:t>(Total valid votes)</a:t>
            </a:r>
            <a:endParaRPr lang="en-IN" b="1" dirty="0"/>
          </a:p>
          <a:p>
            <a:endParaRPr lang="en-IN" b="1" dirty="0"/>
          </a:p>
          <a:p>
            <a:pPr algn="ctr"/>
            <a:r>
              <a:rPr lang="en-IN" b="1" dirty="0"/>
              <a:t>2026 Worked example</a:t>
            </a:r>
          </a:p>
          <a:p>
            <a:pPr algn="ctr"/>
            <a:r>
              <a:rPr lang="en-IN" b="1" dirty="0"/>
              <a:t>Gummidipoondi constituency no. 1:</a:t>
            </a:r>
          </a:p>
          <a:p>
            <a:pPr algn="ctr"/>
            <a:endParaRPr lang="en-IN" b="1" dirty="0"/>
          </a:p>
          <a:p>
            <a:pPr algn="ctr"/>
            <a:r>
              <a:rPr lang="en-IN" dirty="0"/>
              <a:t>15 Candidates + NOTA</a:t>
            </a:r>
          </a:p>
          <a:p>
            <a:pPr algn="ctr"/>
            <a:endParaRPr lang="en-IN" dirty="0"/>
          </a:p>
          <a:p>
            <a:pPr algn="ctr"/>
            <a:r>
              <a:rPr lang="en-IN" dirty="0"/>
              <a:t>Total valid votes — 232,522</a:t>
            </a:r>
          </a:p>
          <a:p>
            <a:pPr algn="ctr"/>
            <a:endParaRPr lang="en-IN" dirty="0"/>
          </a:p>
          <a:p>
            <a:pPr algn="ctr"/>
            <a:r>
              <a:rPr lang="en-IN" dirty="0"/>
              <a:t>First — TVK — 94,320 votes</a:t>
            </a:r>
          </a:p>
          <a:p>
            <a:pPr algn="ctr"/>
            <a:endParaRPr lang="en-IN" dirty="0"/>
          </a:p>
          <a:p>
            <a:pPr algn="ctr"/>
            <a:r>
              <a:rPr lang="en-IN" dirty="0"/>
              <a:t>Runner up — AIADMK — 66,375 votes</a:t>
            </a:r>
          </a:p>
          <a:p>
            <a:endParaRPr lang="en-IN" dirty="0"/>
          </a:p>
          <a:p>
            <a:pPr algn="ctr"/>
            <a:r>
              <a:rPr lang="en-IN" dirty="0">
                <a:highlight>
                  <a:srgbClr val="FFFF00"/>
                </a:highlight>
              </a:rPr>
              <a:t>Margin of Victory % =</a:t>
            </a:r>
          </a:p>
          <a:p>
            <a:pPr algn="ctr"/>
            <a:r>
              <a:rPr lang="en-IN" u="sng" dirty="0">
                <a:highlight>
                  <a:srgbClr val="FFFF00"/>
                </a:highlight>
              </a:rPr>
              <a:t>100 × (94,320 − 66,375)</a:t>
            </a:r>
            <a:r>
              <a:rPr lang="en-IN" dirty="0">
                <a:highlight>
                  <a:srgbClr val="FFFF00"/>
                </a:highlight>
              </a:rPr>
              <a:t> = </a:t>
            </a:r>
            <a:r>
              <a:rPr lang="en-IN" b="1" dirty="0">
                <a:highlight>
                  <a:srgbClr val="FFFF00"/>
                </a:highlight>
              </a:rPr>
              <a:t>12.02%</a:t>
            </a:r>
          </a:p>
          <a:p>
            <a:pPr algn="ctr"/>
            <a:r>
              <a:rPr lang="en-IN" dirty="0">
                <a:highlight>
                  <a:srgbClr val="FFFF00"/>
                </a:highlight>
              </a:rPr>
              <a:t>232,522 100</a:t>
            </a:r>
          </a:p>
          <a:p>
            <a:pPr algn="ctr"/>
            <a:endParaRPr lang="en-IN" dirty="0"/>
          </a:p>
          <a:p>
            <a:endParaRPr lang="en-IN" dirty="0"/>
          </a:p>
        </p:txBody>
      </p:sp>
      <p:graphicFrame>
        <p:nvGraphicFramePr>
          <p:cNvPr id="9" name="Chart 8">
            <a:extLst>
              <a:ext uri="{FF2B5EF4-FFF2-40B4-BE49-F238E27FC236}">
                <a16:creationId xmlns:a16="http://schemas.microsoft.com/office/drawing/2014/main" id="{5039DAF2-8F8F-4353-9B21-1DB07A7A5796}"/>
              </a:ext>
            </a:extLst>
          </p:cNvPr>
          <p:cNvGraphicFramePr/>
          <p:nvPr>
            <p:extLst>
              <p:ext uri="{D42A27DB-BD31-4B8C-83A1-F6EECF244321}">
                <p14:modId xmlns:p14="http://schemas.microsoft.com/office/powerpoint/2010/main" val="554687233"/>
              </p:ext>
            </p:extLst>
          </p:nvPr>
        </p:nvGraphicFramePr>
        <p:xfrm>
          <a:off x="5129048" y="1061545"/>
          <a:ext cx="7062951" cy="5778199"/>
        </p:xfrm>
        <a:graphic>
          <a:graphicData uri="http://schemas.openxmlformats.org/drawingml/2006/chart">
            <c:chart xmlns:c="http://schemas.openxmlformats.org/drawingml/2006/chart" xmlns:r="http://schemas.openxmlformats.org/officeDocument/2006/relationships" r:id="rId2"/>
          </a:graphicData>
        </a:graphic>
      </p:graphicFrame>
      <p:cxnSp>
        <p:nvCxnSpPr>
          <p:cNvPr id="12" name="Straight Connector 11">
            <a:extLst>
              <a:ext uri="{FF2B5EF4-FFF2-40B4-BE49-F238E27FC236}">
                <a16:creationId xmlns:a16="http://schemas.microsoft.com/office/drawing/2014/main" id="{4CD07462-4443-42D1-A294-5BB956AAB2DB}"/>
              </a:ext>
            </a:extLst>
          </p:cNvPr>
          <p:cNvCxnSpPr>
            <a:cxnSpLocks/>
          </p:cNvCxnSpPr>
          <p:nvPr/>
        </p:nvCxnSpPr>
        <p:spPr>
          <a:xfrm flipV="1">
            <a:off x="5129048" y="1343817"/>
            <a:ext cx="0" cy="551418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0248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200" y="18255"/>
            <a:ext cx="10515600" cy="1325563"/>
          </a:xfrm>
        </p:spPr>
        <p:txBody>
          <a:bodyPr/>
          <a:lstStyle/>
          <a:p>
            <a:pPr algn="ctr"/>
            <a:r>
              <a:rPr lang="en-IN" dirty="0">
                <a:solidFill>
                  <a:schemeClr val="accent1">
                    <a:lumMod val="50000"/>
                  </a:schemeClr>
                </a:solidFill>
                <a:latin typeface="Arial Black" panose="020B0A04020102020204" pitchFamily="34" charset="0"/>
              </a:rPr>
              <a:t>THE MARGIN OF VICTORY STORY</a:t>
            </a:r>
            <a:endParaRPr lang="en-IN" dirty="0"/>
          </a:p>
        </p:txBody>
      </p:sp>
      <p:graphicFrame>
        <p:nvGraphicFramePr>
          <p:cNvPr id="2" name="Table 1">
            <a:extLst>
              <a:ext uri="{FF2B5EF4-FFF2-40B4-BE49-F238E27FC236}">
                <a16:creationId xmlns:a16="http://schemas.microsoft.com/office/drawing/2014/main" id="{7EBA6A5B-C4A6-4041-8480-BFE76B6FA92A}"/>
              </a:ext>
            </a:extLst>
          </p:cNvPr>
          <p:cNvGraphicFramePr>
            <a:graphicFrameLocks noGrp="1"/>
          </p:cNvGraphicFramePr>
          <p:nvPr>
            <p:extLst>
              <p:ext uri="{D42A27DB-BD31-4B8C-83A1-F6EECF244321}">
                <p14:modId xmlns:p14="http://schemas.microsoft.com/office/powerpoint/2010/main" val="1572338376"/>
              </p:ext>
            </p:extLst>
          </p:nvPr>
        </p:nvGraphicFramePr>
        <p:xfrm>
          <a:off x="1082567" y="1193695"/>
          <a:ext cx="10163502" cy="741680"/>
        </p:xfrm>
        <a:graphic>
          <a:graphicData uri="http://schemas.openxmlformats.org/drawingml/2006/table">
            <a:tbl>
              <a:tblPr firstRow="1" bandRow="1">
                <a:tableStyleId>{073A0DAA-6AF3-43AB-8588-CEC1D06C72B9}</a:tableStyleId>
              </a:tblPr>
              <a:tblGrid>
                <a:gridCol w="5276390">
                  <a:extLst>
                    <a:ext uri="{9D8B030D-6E8A-4147-A177-3AD203B41FA5}">
                      <a16:colId xmlns:a16="http://schemas.microsoft.com/office/drawing/2014/main" val="943964136"/>
                    </a:ext>
                  </a:extLst>
                </a:gridCol>
                <a:gridCol w="1555333">
                  <a:extLst>
                    <a:ext uri="{9D8B030D-6E8A-4147-A177-3AD203B41FA5}">
                      <a16:colId xmlns:a16="http://schemas.microsoft.com/office/drawing/2014/main" val="600015203"/>
                    </a:ext>
                  </a:extLst>
                </a:gridCol>
                <a:gridCol w="1405548">
                  <a:extLst>
                    <a:ext uri="{9D8B030D-6E8A-4147-A177-3AD203B41FA5}">
                      <a16:colId xmlns:a16="http://schemas.microsoft.com/office/drawing/2014/main" val="206114897"/>
                    </a:ext>
                  </a:extLst>
                </a:gridCol>
                <a:gridCol w="1926231">
                  <a:extLst>
                    <a:ext uri="{9D8B030D-6E8A-4147-A177-3AD203B41FA5}">
                      <a16:colId xmlns:a16="http://schemas.microsoft.com/office/drawing/2014/main" val="1819810151"/>
                    </a:ext>
                  </a:extLst>
                </a:gridCol>
              </a:tblGrid>
              <a:tr h="370840">
                <a:tc>
                  <a:txBody>
                    <a:bodyPr/>
                    <a:lstStyle/>
                    <a:p>
                      <a:r>
                        <a:rPr lang="en-IN" dirty="0"/>
                        <a:t>Metric</a:t>
                      </a:r>
                    </a:p>
                  </a:txBody>
                  <a:tcPr anchor="ctr"/>
                </a:tc>
                <a:tc>
                  <a:txBody>
                    <a:bodyPr/>
                    <a:lstStyle/>
                    <a:p>
                      <a:r>
                        <a:rPr lang="en-IN" dirty="0"/>
                        <a:t>2021</a:t>
                      </a:r>
                    </a:p>
                  </a:txBody>
                  <a:tcPr anchor="ctr"/>
                </a:tc>
                <a:tc>
                  <a:txBody>
                    <a:bodyPr/>
                    <a:lstStyle/>
                    <a:p>
                      <a:r>
                        <a:rPr lang="en-IN" dirty="0"/>
                        <a:t>2026</a:t>
                      </a:r>
                    </a:p>
                  </a:txBody>
                  <a:tcPr anchor="ctr"/>
                </a:tc>
                <a:tc>
                  <a:txBody>
                    <a:bodyPr/>
                    <a:lstStyle/>
                    <a:p>
                      <a:r>
                        <a:rPr lang="en-IN"/>
                        <a:t>Change</a:t>
                      </a:r>
                    </a:p>
                  </a:txBody>
                  <a:tcPr anchor="ctr"/>
                </a:tc>
                <a:extLst>
                  <a:ext uri="{0D108BD9-81ED-4DB2-BD59-A6C34878D82A}">
                    <a16:rowId xmlns:a16="http://schemas.microsoft.com/office/drawing/2014/main" val="2308350585"/>
                  </a:ext>
                </a:extLst>
              </a:tr>
              <a:tr h="370840">
                <a:tc>
                  <a:txBody>
                    <a:bodyPr/>
                    <a:lstStyle/>
                    <a:p>
                      <a:r>
                        <a:rPr lang="en-US" dirty="0"/>
                        <a:t>Average MOV across all 234 constituencies</a:t>
                      </a:r>
                    </a:p>
                  </a:txBody>
                  <a:tcPr anchor="ctr"/>
                </a:tc>
                <a:tc>
                  <a:txBody>
                    <a:bodyPr/>
                    <a:lstStyle/>
                    <a:p>
                      <a:r>
                        <a:rPr lang="en-IN" dirty="0"/>
                        <a:t>11.70%</a:t>
                      </a:r>
                    </a:p>
                  </a:txBody>
                  <a:tcPr anchor="ctr"/>
                </a:tc>
                <a:tc>
                  <a:txBody>
                    <a:bodyPr/>
                    <a:lstStyle/>
                    <a:p>
                      <a:r>
                        <a:rPr lang="en-IN" dirty="0">
                          <a:solidFill>
                            <a:schemeClr val="bg1"/>
                          </a:solidFill>
                          <a:highlight>
                            <a:srgbClr val="FF0000"/>
                          </a:highlight>
                        </a:rPr>
                        <a:t>7.67%</a:t>
                      </a:r>
                    </a:p>
                  </a:txBody>
                  <a:tcPr anchor="ctr"/>
                </a:tc>
                <a:tc>
                  <a:txBody>
                    <a:bodyPr/>
                    <a:lstStyle/>
                    <a:p>
                      <a:r>
                        <a:rPr lang="en-IN" dirty="0"/>
                        <a:t>−4.03 points</a:t>
                      </a:r>
                    </a:p>
                  </a:txBody>
                  <a:tcPr anchor="ctr"/>
                </a:tc>
                <a:extLst>
                  <a:ext uri="{0D108BD9-81ED-4DB2-BD59-A6C34878D82A}">
                    <a16:rowId xmlns:a16="http://schemas.microsoft.com/office/drawing/2014/main" val="3139451417"/>
                  </a:ext>
                </a:extLst>
              </a:tr>
            </a:tbl>
          </a:graphicData>
        </a:graphic>
      </p:graphicFrame>
      <p:graphicFrame>
        <p:nvGraphicFramePr>
          <p:cNvPr id="6" name="Chart 5">
            <a:extLst>
              <a:ext uri="{FF2B5EF4-FFF2-40B4-BE49-F238E27FC236}">
                <a16:creationId xmlns:a16="http://schemas.microsoft.com/office/drawing/2014/main" id="{389793D7-B828-45BF-8D8A-15BB774765FC}"/>
              </a:ext>
            </a:extLst>
          </p:cNvPr>
          <p:cNvGraphicFramePr/>
          <p:nvPr>
            <p:extLst>
              <p:ext uri="{D42A27DB-BD31-4B8C-83A1-F6EECF244321}">
                <p14:modId xmlns:p14="http://schemas.microsoft.com/office/powerpoint/2010/main" val="304023422"/>
              </p:ext>
            </p:extLst>
          </p:nvPr>
        </p:nvGraphicFramePr>
        <p:xfrm>
          <a:off x="0" y="1938252"/>
          <a:ext cx="12192000" cy="3987753"/>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23142C2F-E509-42E5-B9B1-99E19A317776}"/>
              </a:ext>
            </a:extLst>
          </p:cNvPr>
          <p:cNvSpPr txBox="1"/>
          <p:nvPr/>
        </p:nvSpPr>
        <p:spPr>
          <a:xfrm>
            <a:off x="838200" y="5926005"/>
            <a:ext cx="10515600" cy="923330"/>
          </a:xfrm>
          <a:prstGeom prst="rect">
            <a:avLst/>
          </a:prstGeom>
          <a:noFill/>
        </p:spPr>
        <p:txBody>
          <a:bodyPr wrap="square" rtlCol="0">
            <a:spAutoFit/>
          </a:bodyPr>
          <a:lstStyle/>
          <a:p>
            <a:r>
              <a:rPr lang="en-US" b="1" dirty="0">
                <a:solidFill>
                  <a:schemeClr val="bg1"/>
                </a:solidFill>
                <a:highlight>
                  <a:srgbClr val="000080"/>
                </a:highlight>
              </a:rPr>
              <a:t>Notable facts</a:t>
            </a:r>
            <a:r>
              <a:rPr lang="en-US" b="1" dirty="0">
                <a:solidFill>
                  <a:schemeClr val="bg1"/>
                </a:solidFill>
              </a:rPr>
              <a:t> </a:t>
            </a:r>
            <a:r>
              <a:rPr lang="en-US" b="1" dirty="0"/>
              <a:t>–</a:t>
            </a:r>
            <a:r>
              <a:rPr lang="en-US" b="1" dirty="0">
                <a:solidFill>
                  <a:schemeClr val="bg1"/>
                </a:solidFill>
              </a:rPr>
              <a:t> </a:t>
            </a:r>
            <a:r>
              <a:rPr lang="en-US" dirty="0"/>
              <a:t>In 2021, two constituencies (19 &amp; 129) returned margins above 50%. In 2026, none did.</a:t>
            </a:r>
            <a:endParaRPr lang="en-US" b="1" dirty="0">
              <a:solidFill>
                <a:schemeClr val="bg1"/>
              </a:solidFill>
            </a:endParaRPr>
          </a:p>
          <a:p>
            <a:r>
              <a:rPr lang="en-US" dirty="0"/>
              <a:t>- Constituency No. 86 had a strong AIADMK margin in both 2021 (37.93%) and 2026 (37.99%). The only consistent stronghold across both elections in this metric.</a:t>
            </a:r>
            <a:endParaRPr lang="en-IN" dirty="0"/>
          </a:p>
        </p:txBody>
      </p:sp>
    </p:spTree>
    <p:extLst>
      <p:ext uri="{BB962C8B-B14F-4D97-AF65-F5344CB8AC3E}">
        <p14:creationId xmlns:p14="http://schemas.microsoft.com/office/powerpoint/2010/main" val="1122578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200" y="18255"/>
            <a:ext cx="10515600" cy="1325563"/>
          </a:xfrm>
        </p:spPr>
        <p:txBody>
          <a:bodyPr/>
          <a:lstStyle/>
          <a:p>
            <a:pPr algn="ctr"/>
            <a:r>
              <a:rPr lang="en-IN" dirty="0">
                <a:solidFill>
                  <a:schemeClr val="accent1">
                    <a:lumMod val="50000"/>
                  </a:schemeClr>
                </a:solidFill>
                <a:latin typeface="Arial Black" panose="020B0A04020102020204" pitchFamily="34" charset="0"/>
              </a:rPr>
              <a:t>THE MARGIN OF VICTORY STORY</a:t>
            </a:r>
            <a:endParaRPr lang="en-IN" dirty="0"/>
          </a:p>
        </p:txBody>
      </p:sp>
      <p:graphicFrame>
        <p:nvGraphicFramePr>
          <p:cNvPr id="6" name="Chart 5">
            <a:extLst>
              <a:ext uri="{FF2B5EF4-FFF2-40B4-BE49-F238E27FC236}">
                <a16:creationId xmlns:a16="http://schemas.microsoft.com/office/drawing/2014/main" id="{389793D7-B828-45BF-8D8A-15BB774765FC}"/>
              </a:ext>
            </a:extLst>
          </p:cNvPr>
          <p:cNvGraphicFramePr/>
          <p:nvPr>
            <p:extLst>
              <p:ext uri="{D42A27DB-BD31-4B8C-83A1-F6EECF244321}">
                <p14:modId xmlns:p14="http://schemas.microsoft.com/office/powerpoint/2010/main" val="2223483991"/>
              </p:ext>
            </p:extLst>
          </p:nvPr>
        </p:nvGraphicFramePr>
        <p:xfrm>
          <a:off x="0" y="1639614"/>
          <a:ext cx="12192000" cy="4954705"/>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075EFF99-1BBB-474B-9A85-EFBD896365FD}"/>
              </a:ext>
            </a:extLst>
          </p:cNvPr>
          <p:cNvSpPr txBox="1"/>
          <p:nvPr/>
        </p:nvSpPr>
        <p:spPr>
          <a:xfrm>
            <a:off x="2547881" y="1159152"/>
            <a:ext cx="7096238" cy="369332"/>
          </a:xfrm>
          <a:prstGeom prst="rect">
            <a:avLst/>
          </a:prstGeom>
          <a:noFill/>
        </p:spPr>
        <p:txBody>
          <a:bodyPr wrap="none" rtlCol="0">
            <a:spAutoFit/>
          </a:bodyPr>
          <a:lstStyle/>
          <a:p>
            <a:r>
              <a:rPr lang="en-IN" dirty="0"/>
              <a:t>What was TVK’s performance with respect to the Margin of Victory Story?</a:t>
            </a:r>
          </a:p>
        </p:txBody>
      </p:sp>
    </p:spTree>
    <p:extLst>
      <p:ext uri="{BB962C8B-B14F-4D97-AF65-F5344CB8AC3E}">
        <p14:creationId xmlns:p14="http://schemas.microsoft.com/office/powerpoint/2010/main" val="2657809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73E1917-06DD-4B6D-AD67-91258F27CDC1}"/>
              </a:ext>
            </a:extLst>
          </p:cNvPr>
          <p:cNvSpPr>
            <a:spLocks noGrp="1"/>
          </p:cNvSpPr>
          <p:nvPr>
            <p:ph type="title"/>
          </p:nvPr>
        </p:nvSpPr>
        <p:spPr>
          <a:xfrm>
            <a:off x="838200" y="18255"/>
            <a:ext cx="10515600" cy="1325563"/>
          </a:xfrm>
        </p:spPr>
        <p:txBody>
          <a:bodyPr/>
          <a:lstStyle/>
          <a:p>
            <a:pPr algn="ctr"/>
            <a:r>
              <a:rPr lang="en-IN" dirty="0">
                <a:solidFill>
                  <a:schemeClr val="accent1">
                    <a:lumMod val="50000"/>
                  </a:schemeClr>
                </a:solidFill>
                <a:latin typeface="Arial Black" panose="020B0A04020102020204" pitchFamily="34" charset="0"/>
              </a:rPr>
              <a:t>BONUS – THE CRIMINAL STORY</a:t>
            </a:r>
            <a:endParaRPr lang="en-IN" dirty="0"/>
          </a:p>
        </p:txBody>
      </p:sp>
      <p:pic>
        <p:nvPicPr>
          <p:cNvPr id="4" name="Picture 3">
            <a:extLst>
              <a:ext uri="{FF2B5EF4-FFF2-40B4-BE49-F238E27FC236}">
                <a16:creationId xmlns:a16="http://schemas.microsoft.com/office/drawing/2014/main" id="{47F7B909-2D67-43DC-8EC7-808B68663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818"/>
            <a:ext cx="12192000" cy="5514182"/>
          </a:xfrm>
          <a:prstGeom prst="rect">
            <a:avLst/>
          </a:prstGeom>
        </p:spPr>
      </p:pic>
    </p:spTree>
    <p:extLst>
      <p:ext uri="{BB962C8B-B14F-4D97-AF65-F5344CB8AC3E}">
        <p14:creationId xmlns:p14="http://schemas.microsoft.com/office/powerpoint/2010/main" val="2087499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3A47C-A32A-4486-AA67-3DAE83F94F8C}"/>
              </a:ext>
            </a:extLst>
          </p:cNvPr>
          <p:cNvSpPr>
            <a:spLocks noGrp="1"/>
          </p:cNvSpPr>
          <p:nvPr>
            <p:ph type="title"/>
          </p:nvPr>
        </p:nvSpPr>
        <p:spPr/>
        <p:txBody>
          <a:bodyPr/>
          <a:lstStyle/>
          <a:p>
            <a:pPr algn="ctr"/>
            <a:r>
              <a:rPr lang="en-IN" dirty="0">
                <a:solidFill>
                  <a:schemeClr val="accent1">
                    <a:lumMod val="50000"/>
                  </a:schemeClr>
                </a:solidFill>
                <a:latin typeface="Arial Black" panose="020B0A04020102020204" pitchFamily="34" charset="0"/>
              </a:rPr>
              <a:t>LIMITATIONS</a:t>
            </a:r>
            <a:endParaRPr lang="en-IN" dirty="0"/>
          </a:p>
        </p:txBody>
      </p:sp>
      <p:graphicFrame>
        <p:nvGraphicFramePr>
          <p:cNvPr id="11" name="Content Placeholder 10">
            <a:extLst>
              <a:ext uri="{FF2B5EF4-FFF2-40B4-BE49-F238E27FC236}">
                <a16:creationId xmlns:a16="http://schemas.microsoft.com/office/drawing/2014/main" id="{D2724EA6-AE9E-4A51-8640-5A0CE2753274}"/>
              </a:ext>
            </a:extLst>
          </p:cNvPr>
          <p:cNvGraphicFramePr>
            <a:graphicFrameLocks noGrp="1"/>
          </p:cNvGraphicFramePr>
          <p:nvPr>
            <p:ph idx="1"/>
            <p:extLst>
              <p:ext uri="{D42A27DB-BD31-4B8C-83A1-F6EECF244321}">
                <p14:modId xmlns:p14="http://schemas.microsoft.com/office/powerpoint/2010/main" val="2955891589"/>
              </p:ext>
            </p:extLst>
          </p:nvPr>
        </p:nvGraphicFramePr>
        <p:xfrm>
          <a:off x="399393" y="1405211"/>
          <a:ext cx="11414235" cy="5296321"/>
        </p:xfrm>
        <a:graphic>
          <a:graphicData uri="http://schemas.openxmlformats.org/drawingml/2006/table">
            <a:tbl>
              <a:tblPr firstRow="1" bandRow="1">
                <a:tableStyleId>{5C22544A-7EE6-4342-B048-85BDC9FD1C3A}</a:tableStyleId>
              </a:tblPr>
              <a:tblGrid>
                <a:gridCol w="1636020">
                  <a:extLst>
                    <a:ext uri="{9D8B030D-6E8A-4147-A177-3AD203B41FA5}">
                      <a16:colId xmlns:a16="http://schemas.microsoft.com/office/drawing/2014/main" val="1267786620"/>
                    </a:ext>
                  </a:extLst>
                </a:gridCol>
                <a:gridCol w="9778215">
                  <a:extLst>
                    <a:ext uri="{9D8B030D-6E8A-4147-A177-3AD203B41FA5}">
                      <a16:colId xmlns:a16="http://schemas.microsoft.com/office/drawing/2014/main" val="1719710323"/>
                    </a:ext>
                  </a:extLst>
                </a:gridCol>
              </a:tblGrid>
              <a:tr h="432805">
                <a:tc>
                  <a:txBody>
                    <a:bodyPr/>
                    <a:lstStyle/>
                    <a:p>
                      <a:r>
                        <a:rPr lang="en-IN" dirty="0"/>
                        <a:t>Section</a:t>
                      </a:r>
                    </a:p>
                  </a:txBody>
                  <a:tcPr anchor="ctr"/>
                </a:tc>
                <a:tc>
                  <a:txBody>
                    <a:bodyPr/>
                    <a:lstStyle/>
                    <a:p>
                      <a:r>
                        <a:rPr lang="en-IN" dirty="0"/>
                        <a:t>Keep</a:t>
                      </a:r>
                    </a:p>
                  </a:txBody>
                  <a:tcPr anchor="ctr"/>
                </a:tc>
                <a:extLst>
                  <a:ext uri="{0D108BD9-81ED-4DB2-BD59-A6C34878D82A}">
                    <a16:rowId xmlns:a16="http://schemas.microsoft.com/office/drawing/2014/main" val="3994560096"/>
                  </a:ext>
                </a:extLst>
              </a:tr>
              <a:tr h="432805">
                <a:tc>
                  <a:txBody>
                    <a:bodyPr/>
                    <a:lstStyle/>
                    <a:p>
                      <a:r>
                        <a:rPr lang="en-IN"/>
                        <a:t>Analytical</a:t>
                      </a:r>
                    </a:p>
                  </a:txBody>
                  <a:tcPr anchor="ctr"/>
                </a:tc>
                <a:tc>
                  <a:txBody>
                    <a:bodyPr/>
                    <a:lstStyle/>
                    <a:p>
                      <a:r>
                        <a:rPr lang="en-US" dirty="0"/>
                        <a:t>Causality cannot be established from results data alone – Why the votes shifted? Which political or social topics were the driving force for the result?</a:t>
                      </a:r>
                    </a:p>
                  </a:txBody>
                  <a:tcPr anchor="ctr"/>
                </a:tc>
                <a:extLst>
                  <a:ext uri="{0D108BD9-81ED-4DB2-BD59-A6C34878D82A}">
                    <a16:rowId xmlns:a16="http://schemas.microsoft.com/office/drawing/2014/main" val="1470016571"/>
                  </a:ext>
                </a:extLst>
              </a:tr>
              <a:tr h="747034">
                <a:tc>
                  <a:txBody>
                    <a:bodyPr/>
                    <a:lstStyle/>
                    <a:p>
                      <a:r>
                        <a:rPr lang="en-IN"/>
                        <a:t>Analytical</a:t>
                      </a:r>
                    </a:p>
                  </a:txBody>
                  <a:tcPr anchor="ctr"/>
                </a:tc>
                <a:tc>
                  <a:txBody>
                    <a:bodyPr/>
                    <a:lstStyle/>
                    <a:p>
                      <a:r>
                        <a:rPr lang="en-US" dirty="0"/>
                        <a:t>Turnout increase from 2021 to 2026 means some 2026 votes came from new voters — exact party split unknown</a:t>
                      </a:r>
                    </a:p>
                  </a:txBody>
                  <a:tcPr anchor="ctr"/>
                </a:tc>
                <a:extLst>
                  <a:ext uri="{0D108BD9-81ED-4DB2-BD59-A6C34878D82A}">
                    <a16:rowId xmlns:a16="http://schemas.microsoft.com/office/drawing/2014/main" val="922030815"/>
                  </a:ext>
                </a:extLst>
              </a:tr>
              <a:tr h="432805">
                <a:tc>
                  <a:txBody>
                    <a:bodyPr/>
                    <a:lstStyle/>
                    <a:p>
                      <a:r>
                        <a:rPr lang="en-IN" dirty="0"/>
                        <a:t>Analytical</a:t>
                      </a:r>
                    </a:p>
                  </a:txBody>
                  <a:tcPr anchor="ctr"/>
                </a:tc>
                <a:tc>
                  <a:txBody>
                    <a:bodyPr/>
                    <a:lstStyle/>
                    <a:p>
                      <a:r>
                        <a:rPr lang="en-US" dirty="0"/>
                        <a:t>Candidate party switching not detectable from ECI results data – Party switching is not considered for the analysis, so if the winning candidates in 2021 changed their parties in 2026 and still won, that cannot be determined</a:t>
                      </a:r>
                    </a:p>
                  </a:txBody>
                  <a:tcPr anchor="ctr"/>
                </a:tc>
                <a:extLst>
                  <a:ext uri="{0D108BD9-81ED-4DB2-BD59-A6C34878D82A}">
                    <a16:rowId xmlns:a16="http://schemas.microsoft.com/office/drawing/2014/main" val="1813062040"/>
                  </a:ext>
                </a:extLst>
              </a:tr>
              <a:tr h="516553">
                <a:tc>
                  <a:txBody>
                    <a:bodyPr/>
                    <a:lstStyle/>
                    <a:p>
                      <a:r>
                        <a:rPr lang="en-IN"/>
                        <a:t>Analytical</a:t>
                      </a:r>
                    </a:p>
                  </a:txBody>
                  <a:tcPr anchor="ctr"/>
                </a:tc>
                <a:tc>
                  <a:txBody>
                    <a:bodyPr/>
                    <a:lstStyle/>
                    <a:p>
                      <a:r>
                        <a:rPr lang="en-US"/>
                        <a:t>Regional groupings are editorial convention, not official ECI classification</a:t>
                      </a:r>
                    </a:p>
                  </a:txBody>
                  <a:tcPr anchor="ctr"/>
                </a:tc>
                <a:extLst>
                  <a:ext uri="{0D108BD9-81ED-4DB2-BD59-A6C34878D82A}">
                    <a16:rowId xmlns:a16="http://schemas.microsoft.com/office/drawing/2014/main" val="2587131620"/>
                  </a:ext>
                </a:extLst>
              </a:tr>
              <a:tr h="747034">
                <a:tc>
                  <a:txBody>
                    <a:bodyPr/>
                    <a:lstStyle/>
                    <a:p>
                      <a:r>
                        <a:rPr lang="en-IN"/>
                        <a:t>Analytical</a:t>
                      </a:r>
                    </a:p>
                  </a:txBody>
                  <a:tcPr anchor="ctr"/>
                </a:tc>
                <a:tc>
                  <a:txBody>
                    <a:bodyPr/>
                    <a:lstStyle/>
                    <a:p>
                      <a:r>
                        <a:rPr lang="en-US" dirty="0"/>
                        <a:t>MOV trend uses two years only — not sufficient to establish long term pattern</a:t>
                      </a:r>
                    </a:p>
                    <a:p>
                      <a:r>
                        <a:rPr lang="en-US" dirty="0"/>
                        <a:t>2021 &amp; 2026 – only set a comparison for election cycles</a:t>
                      </a:r>
                    </a:p>
                  </a:txBody>
                  <a:tcPr anchor="ctr"/>
                </a:tc>
                <a:extLst>
                  <a:ext uri="{0D108BD9-81ED-4DB2-BD59-A6C34878D82A}">
                    <a16:rowId xmlns:a16="http://schemas.microsoft.com/office/drawing/2014/main" val="3960484118"/>
                  </a:ext>
                </a:extLst>
              </a:tr>
              <a:tr h="432805">
                <a:tc>
                  <a:txBody>
                    <a:bodyPr/>
                    <a:lstStyle/>
                    <a:p>
                      <a:r>
                        <a:rPr lang="en-IN"/>
                        <a:t>Scope</a:t>
                      </a:r>
                    </a:p>
                  </a:txBody>
                  <a:tcPr anchor="ctr"/>
                </a:tc>
                <a:tc>
                  <a:txBody>
                    <a:bodyPr/>
                    <a:lstStyle/>
                    <a:p>
                      <a:r>
                        <a:rPr lang="en-US" dirty="0"/>
                        <a:t>Three questions only — Q3, Q2, Q6 – from the </a:t>
                      </a:r>
                      <a:r>
                        <a:rPr lang="en-US" dirty="0" err="1"/>
                        <a:t>Codebasics</a:t>
                      </a:r>
                      <a:r>
                        <a:rPr lang="en-US" dirty="0"/>
                        <a:t> dossier</a:t>
                      </a:r>
                    </a:p>
                  </a:txBody>
                  <a:tcPr anchor="ctr"/>
                </a:tc>
                <a:extLst>
                  <a:ext uri="{0D108BD9-81ED-4DB2-BD59-A6C34878D82A}">
                    <a16:rowId xmlns:a16="http://schemas.microsoft.com/office/drawing/2014/main" val="299776493"/>
                  </a:ext>
                </a:extLst>
              </a:tr>
              <a:tr h="432805">
                <a:tc>
                  <a:txBody>
                    <a:bodyPr/>
                    <a:lstStyle/>
                    <a:p>
                      <a:r>
                        <a:rPr lang="en-IN"/>
                        <a:t>Scope</a:t>
                      </a:r>
                    </a:p>
                  </a:txBody>
                  <a:tcPr anchor="ctr"/>
                </a:tc>
                <a:tc>
                  <a:txBody>
                    <a:bodyPr/>
                    <a:lstStyle/>
                    <a:p>
                      <a:r>
                        <a:rPr lang="en-US" dirty="0"/>
                        <a:t>No demographic breakdown possible from ECI data – which was prohibited in the rules</a:t>
                      </a:r>
                    </a:p>
                  </a:txBody>
                  <a:tcPr anchor="ctr"/>
                </a:tc>
                <a:extLst>
                  <a:ext uri="{0D108BD9-81ED-4DB2-BD59-A6C34878D82A}">
                    <a16:rowId xmlns:a16="http://schemas.microsoft.com/office/drawing/2014/main" val="2000903390"/>
                  </a:ext>
                </a:extLst>
              </a:tr>
              <a:tr h="432805">
                <a:tc>
                  <a:txBody>
                    <a:bodyPr/>
                    <a:lstStyle/>
                    <a:p>
                      <a:r>
                        <a:rPr lang="en-IN"/>
                        <a:t>Scope</a:t>
                      </a:r>
                    </a:p>
                  </a:txBody>
                  <a:tcPr anchor="ctr"/>
                </a:tc>
                <a:tc>
                  <a:txBody>
                    <a:bodyPr/>
                    <a:lstStyle/>
                    <a:p>
                      <a:r>
                        <a:rPr lang="en-US" dirty="0"/>
                        <a:t>No exit polls, news articles, or opinion data used – prohibited by the rules</a:t>
                      </a:r>
                    </a:p>
                  </a:txBody>
                  <a:tcPr anchor="ctr"/>
                </a:tc>
                <a:extLst>
                  <a:ext uri="{0D108BD9-81ED-4DB2-BD59-A6C34878D82A}">
                    <a16:rowId xmlns:a16="http://schemas.microsoft.com/office/drawing/2014/main" val="412904402"/>
                  </a:ext>
                </a:extLst>
              </a:tr>
            </a:tbl>
          </a:graphicData>
        </a:graphic>
      </p:graphicFrame>
    </p:spTree>
    <p:extLst>
      <p:ext uri="{BB962C8B-B14F-4D97-AF65-F5344CB8AC3E}">
        <p14:creationId xmlns:p14="http://schemas.microsoft.com/office/powerpoint/2010/main" val="2657408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668C9-6587-4CD3-9B75-C08ED8CE741F}"/>
              </a:ext>
            </a:extLst>
          </p:cNvPr>
          <p:cNvSpPr>
            <a:spLocks noGrp="1"/>
          </p:cNvSpPr>
          <p:nvPr>
            <p:ph type="title"/>
          </p:nvPr>
        </p:nvSpPr>
        <p:spPr>
          <a:xfrm>
            <a:off x="838200" y="365125"/>
            <a:ext cx="10515600" cy="1325563"/>
          </a:xfrm>
        </p:spPr>
        <p:txBody>
          <a:bodyPr/>
          <a:lstStyle/>
          <a:p>
            <a:pPr algn="ctr"/>
            <a:r>
              <a:rPr lang="en-IN" dirty="0">
                <a:solidFill>
                  <a:schemeClr val="accent1">
                    <a:lumMod val="50000"/>
                  </a:schemeClr>
                </a:solidFill>
                <a:latin typeface="Arial Black" panose="020B0A04020102020204" pitchFamily="34" charset="0"/>
              </a:rPr>
              <a:t>DATA SOURCES</a:t>
            </a:r>
          </a:p>
        </p:txBody>
      </p:sp>
      <p:sp>
        <p:nvSpPr>
          <p:cNvPr id="3" name="Content Placeholder 2">
            <a:extLst>
              <a:ext uri="{FF2B5EF4-FFF2-40B4-BE49-F238E27FC236}">
                <a16:creationId xmlns:a16="http://schemas.microsoft.com/office/drawing/2014/main" id="{EA0F2D67-4EAF-48E2-9E36-23383E344242}"/>
              </a:ext>
            </a:extLst>
          </p:cNvPr>
          <p:cNvSpPr>
            <a:spLocks noGrp="1"/>
          </p:cNvSpPr>
          <p:nvPr>
            <p:ph idx="1"/>
          </p:nvPr>
        </p:nvSpPr>
        <p:spPr/>
        <p:txBody>
          <a:bodyPr>
            <a:normAutofit/>
          </a:bodyPr>
          <a:lstStyle/>
          <a:p>
            <a:r>
              <a:rPr lang="en-IN" sz="2000" dirty="0" err="1"/>
              <a:t>Codebasics</a:t>
            </a:r>
            <a:r>
              <a:rPr lang="en-IN" sz="2000" dirty="0"/>
              <a:t> RPC Starter Dataset tn_2021_results.csv · tn_2026_results.csv · constituency_master.csv Cleaned from ECI and Trivedi Centre for Political Data, Ashoka University</a:t>
            </a:r>
          </a:p>
          <a:p>
            <a:r>
              <a:rPr lang="en-IN" sz="2000" dirty="0"/>
              <a:t>Candidate Affidavit Data myneta.info — Association for Democratic Reforms Original source: ECI affidavit archive — </a:t>
            </a:r>
            <a:r>
              <a:rPr lang="en-IN" sz="2000" dirty="0">
                <a:hlinkClick r:id="rId2"/>
              </a:rPr>
              <a:t>https://affidavit.eci.gov.in/</a:t>
            </a:r>
            <a:endParaRPr lang="en-IN" sz="2000" dirty="0"/>
          </a:p>
          <a:p>
            <a:endParaRPr lang="en-IN" sz="2000" dirty="0"/>
          </a:p>
          <a:p>
            <a:endParaRPr lang="en-IN" sz="2000" dirty="0"/>
          </a:p>
        </p:txBody>
      </p:sp>
    </p:spTree>
    <p:extLst>
      <p:ext uri="{BB962C8B-B14F-4D97-AF65-F5344CB8AC3E}">
        <p14:creationId xmlns:p14="http://schemas.microsoft.com/office/powerpoint/2010/main" val="3818199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B097-DD20-4155-8AA7-8DBEDDFC7F67}"/>
              </a:ext>
            </a:extLst>
          </p:cNvPr>
          <p:cNvSpPr>
            <a:spLocks noGrp="1"/>
          </p:cNvSpPr>
          <p:nvPr>
            <p:ph type="title"/>
          </p:nvPr>
        </p:nvSpPr>
        <p:spPr/>
        <p:txBody>
          <a:bodyPr/>
          <a:lstStyle/>
          <a:p>
            <a:pPr algn="ctr"/>
            <a:r>
              <a:rPr lang="en-IN" dirty="0">
                <a:solidFill>
                  <a:schemeClr val="accent1">
                    <a:lumMod val="50000"/>
                  </a:schemeClr>
                </a:solidFill>
                <a:latin typeface="Arial Black" panose="020B0A04020102020204" pitchFamily="34" charset="0"/>
              </a:rPr>
              <a:t>DECLARATION</a:t>
            </a:r>
            <a:endParaRPr lang="en-IN" dirty="0"/>
          </a:p>
        </p:txBody>
      </p:sp>
      <p:sp>
        <p:nvSpPr>
          <p:cNvPr id="3" name="Content Placeholder 2">
            <a:extLst>
              <a:ext uri="{FF2B5EF4-FFF2-40B4-BE49-F238E27FC236}">
                <a16:creationId xmlns:a16="http://schemas.microsoft.com/office/drawing/2014/main" id="{809A2430-4903-437D-9D83-0E4CBD3DF102}"/>
              </a:ext>
            </a:extLst>
          </p:cNvPr>
          <p:cNvSpPr>
            <a:spLocks noGrp="1"/>
          </p:cNvSpPr>
          <p:nvPr>
            <p:ph idx="1"/>
          </p:nvPr>
        </p:nvSpPr>
        <p:spPr/>
        <p:txBody>
          <a:bodyPr/>
          <a:lstStyle/>
          <a:p>
            <a:pPr marL="0" indent="0">
              <a:buNone/>
            </a:pPr>
            <a:r>
              <a:rPr lang="en-US" dirty="0"/>
              <a:t>To the best of my knowledge and intent, this analysis is non-partisan. I have not taken any position in favour of or against any party, leader, alliance, community, or electoral outcome. Every observation in this presentation describes data only. All sources are publicly available and ECI-verified. No exit polls, news articles, opinion polls, or social media data were used at any stage of this analysis.</a:t>
            </a:r>
            <a:endParaRPr lang="en-IN" dirty="0"/>
          </a:p>
        </p:txBody>
      </p:sp>
    </p:spTree>
    <p:extLst>
      <p:ext uri="{BB962C8B-B14F-4D97-AF65-F5344CB8AC3E}">
        <p14:creationId xmlns:p14="http://schemas.microsoft.com/office/powerpoint/2010/main" val="5469116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3036</TotalTime>
  <Words>936</Words>
  <Application>Microsoft Office PowerPoint</Application>
  <PresentationFormat>Widescreen</PresentationFormat>
  <Paragraphs>124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Arial Black</vt:lpstr>
      <vt:lpstr>Calibri</vt:lpstr>
      <vt:lpstr>Calibri Light</vt:lpstr>
      <vt:lpstr>Office Theme</vt:lpstr>
      <vt:lpstr>Decoding the 2026 Tamil Nadu Assembly Election  A DATA-ONLY SHOW</vt:lpstr>
      <vt:lpstr>BREAKING DOWN A NEW PARTY’S PERFORMANCE IN TAMIL NADU 2026 STATE ELECTIONS</vt:lpstr>
      <vt:lpstr>EXPECTATIONS</vt:lpstr>
      <vt:lpstr>THREE QUESTIONS ONE STORY</vt:lpstr>
      <vt:lpstr>SOME BASE NUMBERS</vt:lpstr>
      <vt:lpstr>THE VOTE SHARE STORY</vt:lpstr>
      <vt:lpstr>THE VOTE SHARE STORY</vt:lpstr>
      <vt:lpstr>THE VOTE SHARE STORY</vt:lpstr>
      <vt:lpstr>THE FLIP GAME</vt:lpstr>
      <vt:lpstr>THE FLIP GAME</vt:lpstr>
      <vt:lpstr>THE MARGIN OF VICTORY STORY</vt:lpstr>
      <vt:lpstr>THE MARGIN OF VICTORY STORY</vt:lpstr>
      <vt:lpstr>THE MARGIN OF VICTORY STORY</vt:lpstr>
      <vt:lpstr>BONUS – THE CRIMINAL STORY</vt:lpstr>
      <vt:lpstr>LIMITATIONS</vt:lpstr>
      <vt:lpstr>DATA SOURCES</vt:lpstr>
      <vt:lpstr>DECLARATION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 Dixit</dc:creator>
  <cp:lastModifiedBy>Aditya Dixit</cp:lastModifiedBy>
  <cp:revision>231</cp:revision>
  <dcterms:created xsi:type="dcterms:W3CDTF">2026-05-20T12:08:15Z</dcterms:created>
  <dcterms:modified xsi:type="dcterms:W3CDTF">2026-05-24T07:40:28Z</dcterms:modified>
</cp:coreProperties>
</file>